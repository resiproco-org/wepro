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14C84A1E-CA92-C80B-CE11-60CC621CF3FB}">
          <p14:sldIdLst>
            <p14:sldId id="256"/>
          </p14:sldIdLst>
        </p14:section>
        <p14:section name="Índice" id="{B402E903-C265-92C9-6EE4-369B29A3A82B}">
          <p14:sldIdLst>
            <p14:sldId id="257"/>
          </p14:sldIdLst>
        </p14:section>
        <p14:section name="Contexto y objetivos" id="{9142F718-FACF-50D7-C782-E5D2C1E17F15}">
          <p14:sldIdLst>
            <p14:sldId id="258"/>
            <p14:sldId id="259"/>
            <p14:sldId id="260"/>
            <p14:sldId id="261"/>
            <p14:sldId id="262"/>
          </p14:sldIdLst>
        </p14:section>
        <p14:section name="Arquitectura y plataforma" id="{BE47C69C-B212-1BDD-A0B4-9D4E9009F9D5}">
          <p14:sldIdLst>
            <p14:sldId id="263"/>
            <p14:sldId id="264"/>
            <p14:sldId id="265"/>
            <p14:sldId id="266"/>
            <p14:sldId id="267"/>
          </p14:sldIdLst>
        </p14:section>
        <p14:section name="Páginas y wireframes" id="{DB7BD1FD-CD24-863B-DC94-F8A3504C2C48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Recomendaciones" id="{78997FEF-C45B-DDD6-A323-C50258A425BA}">
          <p14:sldIdLst>
            <p14:sldId id="277"/>
            <p14:sldId id="278"/>
            <p14:sldId id="279"/>
          </p14:sldIdLst>
        </p14:section>
        <p14:section name="Referencias de inspiración" id="{F2D1A6D2-C27B-81D4-91F9-33CA6187675F}">
          <p14:sldIdLst>
            <p14:sldId id="280"/>
            <p14:sldId id="281"/>
            <p14:sldId id="282"/>
            <p14:sldId id="283"/>
            <p14:sldId id="284"/>
          </p14:sldIdLst>
        </p14:section>
        <p14:section name="Planning y entregables" id="{F6C1A383-B62B-7B1A-BA3C-9813C0CB10A6}">
          <p14:sldIdLst>
            <p14:sldId id="285"/>
            <p14:sldId id="286"/>
            <p14:sldId id="287"/>
            <p14:sldId id="288"/>
            <p14:sldId id="289"/>
          </p14:sldIdLst>
        </p14:section>
        <p14:section name="Cierre" id="{997DA149-883E-F69F-CFA5-C5749F11F17D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66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webs de cada marca; Hygraph, caso Lick; Dwell, Backdrop y Clare; Shopify, caso Our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webs de cada marca; Hygraph, caso Lick; Dwell, Backdrop y Clare; Shopify, caso Our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webs de cada marca; Hygraph, caso Lick; Dwell, Backdrop y Clare; Shopify, caso Our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webs de cada marca; Hygraph, caso Lick; Dwell, Backdrop y Clare; Shopify, caso Our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PR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246888"/>
            <a:ext cx="1024128" cy="210312"/>
          </a:xfrm>
          <a:prstGeom prst="rect">
            <a:avLst/>
          </a:prstGeom>
        </p:spPr>
      </p:pic>
      <p:pic>
        <p:nvPicPr>
          <p:cNvPr id="3" name="Image 1" descr="/home/claude/tpl/a/slap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74320"/>
            <a:ext cx="2423160" cy="164592"/>
          </a:xfrm>
          <a:prstGeom prst="rect">
            <a:avLst/>
          </a:prstGeom>
        </p:spPr>
      </p:pic>
      <p:pic>
        <p:nvPicPr>
          <p:cNvPr id="4" name="Image 2" descr="/home/claude/tpl/a/icon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182880"/>
            <a:ext cx="457200" cy="457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63276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</a:rPr>
              <a:t>WEPRO · BRIEF DESARROLLO WEB</a:t>
            </a:r>
            <a:endParaRPr lang="en-US" sz="9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300" dirty="0">
                <a:solidFill>
                  <a:srgbClr val="6B6B6B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E1E1E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PRO_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PRO_COVER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ph_36_47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4648" y="0"/>
            <a:ext cx="7007047" cy="6858000"/>
          </a:xfrm>
          <a:prstGeom prst="rect">
            <a:avLst/>
          </a:prstGeom>
        </p:spPr>
      </p:pic>
      <p:pic>
        <p:nvPicPr>
          <p:cNvPr id="3" name="Image 1" descr="/home/claude/tpl/a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29184"/>
            <a:ext cx="1024128" cy="210312"/>
          </a:xfrm>
          <a:prstGeom prst="rect">
            <a:avLst/>
          </a:prstGeom>
        </p:spPr>
      </p:pic>
      <p:pic>
        <p:nvPicPr>
          <p:cNvPr id="4" name="Image 2" descr="/home/claude/tpl/a/s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08960" y="0"/>
            <a:ext cx="685800" cy="502920"/>
          </a:xfrm>
          <a:prstGeom prst="rect">
            <a:avLst/>
          </a:prstGeom>
        </p:spPr>
      </p:pic>
      <p:pic>
        <p:nvPicPr>
          <p:cNvPr id="5" name="Image 3" descr="/home/claude/tpl/a/ico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1984" y="274320"/>
            <a:ext cx="457200" cy="457200"/>
          </a:xfrm>
          <a:prstGeom prst="rect">
            <a:avLst/>
          </a:prstGeom>
        </p:spPr>
      </p:pic>
      <p:pic>
        <p:nvPicPr>
          <p:cNvPr id="6" name="Image 4" descr="/home/claude/tpl/a/sl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442448" y="3291840"/>
            <a:ext cx="2423160" cy="16459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402336" y="19659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BRIEF DESARROLLO ECOMMERCE WEB WEPRO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402336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9D9D9"/>
                </a:solidFill>
              </a:rPr>
              <a:t>Microsite ecommerce WEPRO en Shopify: estructura, wireframes, recomendaciones y planning</a:t>
            </a:r>
            <a:endParaRPr lang="en-US" sz="1400" dirty="0"/>
          </a:p>
        </p:txBody>
      </p:sp>
      <p:pic>
        <p:nvPicPr>
          <p:cNvPr id="9" name="Image 5" descr="/home/claude/tpl/a/s3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0" y="5257800"/>
            <a:ext cx="502920" cy="329184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10/2026</a:t>
            </a:r>
            <a:endParaRPr lang="en-US" sz="1300" dirty="0"/>
          </a:p>
        </p:txBody>
      </p:sp>
      <p:sp>
        <p:nvSpPr>
          <p:cNvPr id="11" name="Text 3"/>
          <p:cNvSpPr txBox="1"/>
          <p:nvPr/>
        </p:nvSpPr>
        <p:spPr>
          <a:xfrm>
            <a:off x="402336" y="6035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BFBF"/>
                </a:solidFill>
              </a:rPr>
              <a:t>Lara Rodríguez · Brand Manager WEPRO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ÍNDICE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Qué encontrarás en este brief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120640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home/claude/tpl/a/s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22585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240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Contexto y objetivos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Qué construimos y respuestas al cuestionario técnico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057400"/>
            <a:ext cx="5120640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/home/claude/tpl/a/b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22585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2940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269480" y="2240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Arquitectura y plataforma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Mapa del site, plantilla Shopify, datos y apps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291840"/>
            <a:ext cx="5120640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2" descr="/home/claude/tpl/a/b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4360" y="34930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5156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474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Páginas y wireframes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Estructura de las 8 plantillas, bloque a bloque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291840"/>
            <a:ext cx="5120640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3" descr="/home/claude/tpl/a/b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2200" y="34930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2940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269480" y="3474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Recomendaciones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UX, conversión, técnica y regulatorio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526280"/>
            <a:ext cx="5120640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4" descr="/home/claude/tpl/a/b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4360" y="472744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709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1691640" y="4709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Referencias de inspiración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691640" y="5029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Sites que trabajan bien marca, estructura y conversión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4526280"/>
            <a:ext cx="5120640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0" name="Image 5" descr="/home/claude/tpl/a/b4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172200" y="472744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629400" y="4709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06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7269480" y="4709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Planning y entregables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269480" y="5029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Calendario, hitos, roles, KPIs y qué esperamos recibir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84648" cy="6858000"/>
          </a:xfrm>
          <a:prstGeom prst="rect">
            <a:avLst/>
          </a:prstGeom>
          <a:solidFill>
            <a:srgbClr val="F5EC5B"/>
          </a:solidFill>
          <a:ln w="12700">
            <a:solidFill>
              <a:srgbClr val="F5EC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/home/claude/tpl/a/ph_4_4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4648" y="0"/>
            <a:ext cx="7007047" cy="6858000"/>
          </a:xfrm>
          <a:prstGeom prst="rect">
            <a:avLst/>
          </a:prstGeom>
        </p:spPr>
      </p:pic>
      <p:pic>
        <p:nvPicPr>
          <p:cNvPr id="4" name="Image 1" descr="/home/claude/tpl/a/logo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29184"/>
            <a:ext cx="1024128" cy="210312"/>
          </a:xfrm>
          <a:prstGeom prst="rect">
            <a:avLst/>
          </a:prstGeom>
        </p:spPr>
      </p:pic>
      <p:pic>
        <p:nvPicPr>
          <p:cNvPr id="5" name="Image 2" descr="/home/claude/tpl/a/ic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984" y="274320"/>
            <a:ext cx="457200" cy="457200"/>
          </a:xfrm>
          <a:prstGeom prst="rect">
            <a:avLst/>
          </a:prstGeom>
        </p:spPr>
      </p:pic>
      <p:pic>
        <p:nvPicPr>
          <p:cNvPr id="6" name="Image 3" descr="/home/claude/tpl/a/sl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442448" y="3291840"/>
            <a:ext cx="2423160" cy="16459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 rot="16200000">
            <a:off x="-1280160" y="28346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D8CF3E"/>
                </a:solidFill>
              </a:rPr>
              <a:t>01. CONTEXTO Y OBJETIVOS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s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01. QUÉ CONSTRUIMOS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Un microsite que vende proyectos, no solo productos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672084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86868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QUÉ ES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423160" y="198424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Microsite D2C de WEPRO en Shopify, con tienda para particulares en toda la UE y EE. UU.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Compra guiada por proyectos: el usuario dice qué quiere hacer y sale con el kit completo y el orden de aplicación.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172968"/>
            <a:ext cx="672084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68680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QUÉ NO ES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3282696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Una landing de campaña ni un catálogo con carrito.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Un canal B2B: sin precios por cliente ni acceso privado.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Una tienda mezclada con graffiti: WEPRO sale de SprayPlanet.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471416"/>
            <a:ext cx="6720840" cy="11887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868680" y="4608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EC5B"/>
                </a:solidFill>
              </a:rPr>
              <a:t>POR QUÉ AHORA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4581144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WEPRO vende por búsqueda: en Amazon (ES+MX) pesa el 80% de la venta.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Queremos una alternativa propia a Amazon y otras tiendas donde concentrar toda la inversión de WEPRO: marca, datos y margen en casa.</a:t>
            </a:r>
            <a:endParaRPr lang="en-US" sz="1200" dirty="0"/>
          </a:p>
        </p:txBody>
      </p:sp>
      <p:pic>
        <p:nvPicPr>
          <p:cNvPr id="14" name="Image 1" descr="/home/claude/tpl/a/ph_8_87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35240" y="1874520"/>
            <a:ext cx="3913632" cy="37856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0080" y="583387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Principio rector: la llamada principal es «Comprar el proyecto completo», no «Comprar producto».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s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01. RESPUESTAS AL CUESTIONARIO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Lo que el desarrollador necesita saber antes de presupuestar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3454298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PREGUNTA 1 · CATÁLOGO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66 referencias WEPRO. Combinaciones de color RAL y formato resueltas como en montanacolors.com (Bricolaje y Decoración).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7180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3A3A"/>
                </a:solidFill>
              </a:rPr>
              <a:t>Implicación: </a:t>
            </a:r>
            <a:r>
              <a:rPr lang="en-US" sz="1100" dirty="0">
                <a:solidFill>
                  <a:srgbClr val="3A3A3A"/>
                </a:solidFill>
              </a:rPr>
              <a:t>66 productos con hasta 3 opciones (Color/RAL · Formato · Acabado). Shopify admite 2.048 variantes por producto: sin riesgo de límite.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8698" y="1874520"/>
            <a:ext cx="3454298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4551578" y="2011680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PREGUNTA 2 · DATOS DE PRODUCTO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51578" y="22860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Sí: exportables en Excel / ERP con nombre, descripción, precio, referencia y EAN.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51578" y="297180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3A3A"/>
                </a:solidFill>
              </a:rPr>
              <a:t>Implicación: </a:t>
            </a:r>
            <a:r>
              <a:rPr lang="en-US" sz="1100" dirty="0">
                <a:solidFill>
                  <a:srgbClr val="3A3A3A"/>
                </a:solidFill>
              </a:rPr>
              <a:t>Carga inicial por CSV + metacampos. Definir el ERP como fuente maestra y la sincronización de stock y precio.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7317" y="1874520"/>
            <a:ext cx="3454298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8280197" y="2011680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PREGUNTA 4 · TIPO DE VENTA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80197" y="22860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Solo particulares.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80197" y="297180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3A3A"/>
                </a:solidFill>
              </a:rPr>
              <a:t>Implicación: </a:t>
            </a:r>
            <a:r>
              <a:rPr lang="en-US" sz="1100" dirty="0">
                <a:solidFill>
                  <a:srgbClr val="3A3A3A"/>
                </a:solidFill>
              </a:rPr>
              <a:t>Sin B2B ni listas de precios. Checkout como invitado y cuenta opcional.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069080"/>
            <a:ext cx="3454298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822960" y="4206240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PREGUNTA 5 · PAÍSES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48056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Toda la UE y EE. UU.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16636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3A3A"/>
                </a:solidFill>
              </a:rPr>
              <a:t>Implicación: </a:t>
            </a:r>
            <a:r>
              <a:rPr lang="en-US" sz="1100" dirty="0">
                <a:solidFill>
                  <a:srgbClr val="3A3A3A"/>
                </a:solidFill>
              </a:rPr>
              <a:t>Shopify Markets: EUR y USD, IVA (OSS) y sales tax, aranceles, idiomas y envío de aerosoles.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68698" y="4069080"/>
            <a:ext cx="3454298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4551578" y="4206240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PREGUNTA 6 · DISEÑO Y PÁGINAS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551578" y="448056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El diseño lo pasa Montana Colors.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51578" y="516636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3A3A"/>
                </a:solidFill>
              </a:rPr>
              <a:t>Implicación: </a:t>
            </a:r>
            <a:r>
              <a:rPr lang="en-US" sz="1100" dirty="0">
                <a:solidFill>
                  <a:srgbClr val="3A3A3A"/>
                </a:solidFill>
              </a:rPr>
              <a:t>Wireframes de 8 plantillas (este brief + canvas interactivo). La agencia hace UI final y desarrollo.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97317" y="4069080"/>
            <a:ext cx="3454298" cy="201168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 txBox="1"/>
          <p:nvPr/>
        </p:nvSpPr>
        <p:spPr>
          <a:xfrm>
            <a:off x="8280197" y="4206240"/>
            <a:ext cx="3088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EC5B"/>
                </a:solidFill>
              </a:rPr>
              <a:t>ELEMENTO DIFERENCIAL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280197" y="4526280"/>
            <a:ext cx="30885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La variante condiciona el proyecto, pero lo que más horas pedirá es la compra guiada: proyectos, kits y buscador. Pedimos que se presupueste aparte.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s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01. EL PAPEL DEL SITE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Un solo destino para WEPRO: web, landing, tienda, buscador e inspiración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291840" cy="3520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HOY: WEPRO DISPERSO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Amazon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2374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80% de la venta online de WEPRO en ES+MX. La marca, el cliente y el dato son de Amazon.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449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SprayPlanet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8269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WEPRO convive con el graffiti de MTN: mensaje y público mezclados.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8039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Retailers online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0416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Sin control de contenido, precio ni experiencia.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5628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montanacolors.com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006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WEPRO como sección de la web corporativa.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041648" y="3383280"/>
            <a:ext cx="384048" cy="384048"/>
          </a:xfrm>
          <a:prstGeom prst="rightArrow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4572000" y="1828800"/>
            <a:ext cx="3520440" cy="5486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4572000" y="1828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WEB WEPRO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572000" y="2450592"/>
            <a:ext cx="35204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4700016" y="2578608"/>
            <a:ext cx="256032" cy="256032"/>
          </a:xfrm>
          <a:prstGeom prst="ellipse">
            <a:avLst/>
          </a:prstGeom>
          <a:solidFill>
            <a:srgbClr val="F4EC5B"/>
          </a:solidFill>
          <a:ln w="12700">
            <a:solidFill>
              <a:srgbClr val="F4EC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 txBox="1"/>
          <p:nvPr/>
        </p:nvSpPr>
        <p:spPr>
          <a:xfrm>
            <a:off x="5074920" y="24963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Web de marca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74920" y="2715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</a:rPr>
              <a:t>Quién es WEPRO y qué hace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0" y="3035808"/>
            <a:ext cx="35204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4700016" y="3163824"/>
            <a:ext cx="256032" cy="256032"/>
          </a:xfrm>
          <a:prstGeom prst="ellipse">
            <a:avLst/>
          </a:prstGeom>
          <a:solidFill>
            <a:srgbClr val="A5C720"/>
          </a:solidFill>
          <a:ln w="12700">
            <a:solidFill>
              <a:srgbClr val="A5C7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5074920" y="3081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Landing de campañas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074920" y="33009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</a:rPr>
              <a:t>Cada campaña, una página del site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0" y="3621024"/>
            <a:ext cx="35204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4700016" y="3749040"/>
            <a:ext cx="256032" cy="256032"/>
          </a:xfrm>
          <a:prstGeom prst="ellipse">
            <a:avLst/>
          </a:prstGeom>
          <a:solidFill>
            <a:srgbClr val="B38ABE"/>
          </a:solidFill>
          <a:ln w="12700">
            <a:solidFill>
              <a:srgbClr val="B38A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 txBox="1"/>
          <p:nvPr/>
        </p:nvSpPr>
        <p:spPr>
          <a:xfrm>
            <a:off x="5074920" y="36667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Ecommerce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074920" y="3886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</a:rPr>
              <a:t>UE + EE. UU., particulares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0" y="4206240"/>
            <a:ext cx="35204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4700016" y="4334256"/>
            <a:ext cx="256032" cy="256032"/>
          </a:xfrm>
          <a:prstGeom prst="ellipse">
            <a:avLst/>
          </a:prstGeom>
          <a:solidFill>
            <a:srgbClr val="5DC4E5"/>
          </a:solidFill>
          <a:ln w="12700">
            <a:solidFill>
              <a:srgbClr val="5DC4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 txBox="1"/>
          <p:nvPr/>
        </p:nvSpPr>
        <p:spPr>
          <a:xfrm>
            <a:off x="5074920" y="42519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Buscador de proyectos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074920" y="44714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</a:rPr>
              <a:t>Qué necesito y en qué orden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0" y="4791456"/>
            <a:ext cx="35204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4700016" y="4919472"/>
            <a:ext cx="256032" cy="256032"/>
          </a:xfrm>
          <a:prstGeom prst="ellipse">
            <a:avLst/>
          </a:prstGeom>
          <a:solidFill>
            <a:srgbClr val="EF9F10"/>
          </a:solidFill>
          <a:ln w="12700">
            <a:solidFill>
              <a:srgbClr val="EF9F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 txBox="1"/>
          <p:nvPr/>
        </p:nvSpPr>
        <p:spPr>
          <a:xfrm>
            <a:off x="5074920" y="48371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Inspiración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074920" y="50566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</a:rPr>
              <a:t>Antes/después, vídeos, ideas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229600" y="3383280"/>
            <a:ext cx="384048" cy="384048"/>
          </a:xfrm>
          <a:prstGeom prst="leftArrow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6"/>
          <p:cNvSpPr/>
          <p:nvPr/>
        </p:nvSpPr>
        <p:spPr>
          <a:xfrm>
            <a:off x="8732520" y="1828800"/>
            <a:ext cx="2816352" cy="35204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 txBox="1"/>
          <p:nvPr/>
        </p:nvSpPr>
        <p:spPr>
          <a:xfrm>
            <a:off x="89154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EC5B"/>
                </a:solidFill>
              </a:rPr>
              <a:t>TODA LA INVERSIÓN APUNTA AQUÍ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8915400" y="24688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Paid social y search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Creators y TikTok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SEO de proyectos y productos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Email y CRM propios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QR en packaging y punto de venta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8915400" y="4480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9D9"/>
                </a:solidFill>
              </a:rPr>
              <a:t>Amazon y retailers siguen vendiendo, pero la inversión de marca se concentra en la web.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40080" y="5486400"/>
            <a:ext cx="10911535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SprayPlanet se ordena: </a:t>
            </a:r>
            <a:r>
              <a:rPr lang="en-US" sz="1150" dirty="0">
                <a:solidFill>
                  <a:schemeClr val="tx1"/>
                </a:solidFill>
              </a:rPr>
              <a:t>se queda con el graffiti (MTN). WEPRO sale y sus URLs redirigen (301) a la nueva web para no perder posicionamiento ni las ventas actuales, sobre todo WEPRO Water en EE. UU.</a:t>
            </a:r>
            <a:endParaRPr lang="en-US" sz="11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s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01. MICROSITE VS. LANDING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Por qué un microsite y no una landing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40664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Landing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Microsite WEPRO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C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Para qué sirve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Una campaña, un mensaje, una acción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Web de marca, tienda, proyectos e inspiración, siempre activa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Búsqueda (SEO)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Una URL: no posiciona búsquedas de proyecto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Cientos de URLs de proyecto, producto y tutorial que captan búsquedas como «cómo pintar un radiador»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Catálogo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3-5 productos destacados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66 referencias con todos sus colores y formatos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Compra guiada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No cabe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Proyectos, kits y buscador guiado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Inversión en medios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Cada campaña empieza de cero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Destino único que acumula tráfico, audiencias y datos propios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Relación con el cliente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Termina en la compra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Postcompra, reseñas y próximo proyecto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Coste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Bajo al inicio, se repite en cada campaña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Mayor al inicio; las landings de campaña se hacen dentro del site sin coste de plataforma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321040" y="1828800"/>
            <a:ext cx="3227832" cy="39776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3"/>
          <p:cNvSpPr txBox="1"/>
          <p:nvPr/>
        </p:nvSpPr>
        <p:spPr>
          <a:xfrm>
            <a:off x="850392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4D84"/>
                </a:solidFill>
              </a:rPr>
              <a:t>EL ARGUMENTO</a:t>
            </a:r>
            <a:endParaRPr lang="en-US" sz="1000" dirty="0"/>
          </a:p>
        </p:txBody>
      </p:sp>
      <p:sp>
        <p:nvSpPr>
          <p:cNvPr id="5" name="Text 4"/>
          <p:cNvSpPr txBox="1"/>
          <p:nvPr/>
        </p:nvSpPr>
        <p:spPr>
          <a:xfrm>
            <a:off x="850392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WEPRO vende por búsqueda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2697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El 80% de su venta online en ES+MX pasa por el buscador de Amazon. Para traer esa demanda a casa hacen falta páginas que respondan a lo que la gente busca: una landing tiene una URL; el microsite, cientos.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4114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Las landings de campaña no desaparecen: se crean dentro del site, con el mismo carrito, datos y audiencias.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4937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4EC5B"/>
                </a:solidFill>
              </a:rPr>
              <a:t>Condición: hoy la web propia rinde ~0,9x de ROAS frente a ~4,0x en marketplaces. Mediremos por contribución y venta total, no solo por último clic.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84648" cy="6858000"/>
          </a:xfrm>
          <a:prstGeom prst="rect">
            <a:avLst/>
          </a:prstGeom>
          <a:solidFill>
            <a:srgbClr val="96CA43"/>
          </a:solidFill>
          <a:ln w="12700">
            <a:solidFill>
              <a:srgbClr val="96CA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/home/claude/tpl/a/ph_15_30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4648" y="0"/>
            <a:ext cx="7007047" cy="6858000"/>
          </a:xfrm>
          <a:prstGeom prst="rect">
            <a:avLst/>
          </a:prstGeom>
        </p:spPr>
      </p:pic>
      <p:pic>
        <p:nvPicPr>
          <p:cNvPr id="4" name="Image 1" descr="/home/claude/tpl/a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29184"/>
            <a:ext cx="1024128" cy="210312"/>
          </a:xfrm>
          <a:prstGeom prst="rect">
            <a:avLst/>
          </a:prstGeom>
        </p:spPr>
      </p:pic>
      <p:pic>
        <p:nvPicPr>
          <p:cNvPr id="5" name="Image 2" descr="/home/claude/tpl/a/ic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984" y="274320"/>
            <a:ext cx="457200" cy="457200"/>
          </a:xfrm>
          <a:prstGeom prst="rect">
            <a:avLst/>
          </a:prstGeom>
        </p:spPr>
      </p:pic>
      <p:pic>
        <p:nvPicPr>
          <p:cNvPr id="6" name="Image 3" descr="/home/claude/tpl/a/sl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442448" y="3291840"/>
            <a:ext cx="2423160" cy="16459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 rot="16200000">
            <a:off x="-1280160" y="28346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7FB02F"/>
                </a:solidFill>
              </a:rPr>
              <a:t>02. ARQUITECTURA Y PLATAFORMA</a:t>
            </a:r>
            <a:endParaRPr lang="en-US" sz="5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02. MAPA DEL SITE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Navegación por necesidad del usuario, no por catálogo interno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956048" y="1810512"/>
            <a:ext cx="2286000" cy="5486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4956048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HOME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99048" y="2359152"/>
            <a:ext cx="0" cy="292608"/>
          </a:xfrm>
          <a:prstGeom prst="line">
            <a:avLst/>
          </a:prstGeom>
          <a:noFill/>
          <a:ln w="1587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645920" y="2651760"/>
            <a:ext cx="8899855" cy="0"/>
          </a:xfrm>
          <a:prstGeom prst="line">
            <a:avLst/>
          </a:prstGeom>
          <a:noFill/>
          <a:ln w="1587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1645920" y="2651760"/>
            <a:ext cx="0" cy="228600"/>
          </a:xfrm>
          <a:prstGeom prst="line">
            <a:avLst/>
          </a:prstGeom>
          <a:noFill/>
          <a:ln w="1587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40080" y="2880360"/>
            <a:ext cx="2011680" cy="502920"/>
          </a:xfrm>
          <a:prstGeom prst="rect">
            <a:avLst/>
          </a:prstGeom>
          <a:solidFill>
            <a:srgbClr val="B38ABE"/>
          </a:solidFill>
          <a:ln w="12700">
            <a:solidFill>
              <a:srgbClr val="B38A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64008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Proyectos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456432"/>
            <a:ext cx="201168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749808" y="35661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11 categorías de proyecto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8 filtros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Página de proyecto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Kit básico / completo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70884" y="2651760"/>
            <a:ext cx="0" cy="228600"/>
          </a:xfrm>
          <a:prstGeom prst="line">
            <a:avLst/>
          </a:prstGeom>
          <a:noFill/>
          <a:ln w="1587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2865044" y="2880360"/>
            <a:ext cx="2011680" cy="502920"/>
          </a:xfrm>
          <a:prstGeom prst="rect">
            <a:avLst/>
          </a:prstGeom>
          <a:solidFill>
            <a:srgbClr val="A5C720"/>
          </a:solidFill>
          <a:ln w="12700">
            <a:solidFill>
              <a:srgbClr val="A5C7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2865044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65044" y="3456432"/>
            <a:ext cx="201168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2974772" y="35661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Repara · Prepara · Pinta · Protege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Subfamilias (colecciones)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Ficha de producto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95848" y="2651760"/>
            <a:ext cx="0" cy="228600"/>
          </a:xfrm>
          <a:prstGeom prst="line">
            <a:avLst/>
          </a:prstGeom>
          <a:noFill/>
          <a:ln w="1587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5090008" y="2880360"/>
            <a:ext cx="2011680" cy="502920"/>
          </a:xfrm>
          <a:prstGeom prst="rect">
            <a:avLst/>
          </a:prstGeom>
          <a:solidFill>
            <a:srgbClr val="5DC4E5"/>
          </a:solidFill>
          <a:ln w="12700">
            <a:solidFill>
              <a:srgbClr val="5DC4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5090008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Cómo se hace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90008" y="3456432"/>
            <a:ext cx="201168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 txBox="1"/>
          <p:nvPr/>
        </p:nvSpPr>
        <p:spPr>
          <a:xfrm>
            <a:off x="5199736" y="35661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Buscador guiado (4 preguntas)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Tutoriales y vídeos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Comparadores · FAQ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320811" y="2651760"/>
            <a:ext cx="0" cy="228600"/>
          </a:xfrm>
          <a:prstGeom prst="line">
            <a:avLst/>
          </a:prstGeom>
          <a:noFill/>
          <a:ln w="1587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7314971" y="2880360"/>
            <a:ext cx="2011680" cy="502920"/>
          </a:xfrm>
          <a:prstGeom prst="rect">
            <a:avLst/>
          </a:prstGeom>
          <a:solidFill>
            <a:srgbClr val="EF9F10"/>
          </a:solidFill>
          <a:ln w="12700">
            <a:solidFill>
              <a:srgbClr val="EF9F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 txBox="1"/>
          <p:nvPr/>
        </p:nvSpPr>
        <p:spPr>
          <a:xfrm>
            <a:off x="7314971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Tienda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314971" y="3456432"/>
            <a:ext cx="201168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 txBox="1"/>
          <p:nvPr/>
        </p:nvSpPr>
        <p:spPr>
          <a:xfrm>
            <a:off x="7424699" y="35661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8 formas de comprar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Packs, novedades, ofertas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Carrito · checkout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545775" y="2651760"/>
            <a:ext cx="0" cy="228600"/>
          </a:xfrm>
          <a:prstGeom prst="line">
            <a:avLst/>
          </a:prstGeom>
          <a:noFill/>
          <a:ln w="1587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9539935" y="2880360"/>
            <a:ext cx="2011680" cy="502920"/>
          </a:xfrm>
          <a:prstGeom prst="rect">
            <a:avLst/>
          </a:prstGeom>
          <a:solidFill>
            <a:srgbClr val="C94D84"/>
          </a:solidFill>
          <a:ln w="12700">
            <a:solidFill>
              <a:srgbClr val="C94D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 txBox="1"/>
          <p:nvPr/>
        </p:nvSpPr>
        <p:spPr>
          <a:xfrm>
            <a:off x="9539935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Postcompra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539935" y="3456432"/>
            <a:ext cx="201168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 txBox="1"/>
          <p:nvPr/>
        </p:nvSpPr>
        <p:spPr>
          <a:xfrm>
            <a:off x="9649663" y="35661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Página de gracias con proyecto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Secuencia de 8 contactos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Cuenta y pedidos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" y="5257800"/>
            <a:ext cx="10911535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 txBox="1"/>
          <p:nvPr/>
        </p:nvSpPr>
        <p:spPr>
          <a:xfrm>
            <a:off x="868680" y="525780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Transversal en todas las páginas: </a:t>
            </a:r>
            <a:r>
              <a:rPr lang="en-US" sz="1200" dirty="0">
                <a:solidFill>
                  <a:schemeClr val="tx1"/>
                </a:solidFill>
              </a:rPr>
              <a:t>buscador con RAL, selector país/idioma, carrito lateral, lista de deseos, localizador de tiendas físicas, envíos y devoluciones por país, legal y fichas de seguridad.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02. PLANTILLA SHOPIFY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Recomendación: Horizon, sobre copia del tema y con GitHub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4206240" cy="41605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91440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5C720"/>
                </a:solidFill>
              </a:rPr>
              <a:t>RECOMENDADA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Horizon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718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Tema gratuito de Shopify (lanzado en 2025), mantenido por la propia plataforma.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Bloques de tema anidados: el paso a paso, el kit y el diagnóstico se construyen una vez y se reutilizan en todos los proyectos.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De serie: mega menú, filtros con muestras de color, compra rápida, carrito lateral, aviso de reposición, vídeo, packs y multi-mercado.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212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EC5B"/>
                </a:solidFill>
              </a:rPr>
              <a:t>Riesgo: las actualizaciones del tema pueden pisar personalizaciones → trabajar siempre sobre tema duplicado y versionado.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874520"/>
          <a:ext cx="6382512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Horizon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0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Impulse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Enterprise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Coste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Gratuito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De pago (pago único)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De pago (pago único)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Punto fuerte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Flexibilidad de bloques para la compra guiada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Contenido visual: vídeo, lookbooks, pestañas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Catálogos grandes, filtros y búsqueda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Encaje WEPRO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Alto: 66 referencias y mucho contenido de proyecto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Medio-alto: buena opción si la agencia ya lo domina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Medio: pensado para catálogos mucho mayores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Lo que falta en todos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Buscador guiado y kit editable: desarrollo a medida o app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Ídem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Ídem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166360" y="5897880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Fuentes: Shopify Theme Store; PageFly, Horizon Theme Review 2026; Sumtracker, Best Shopify Theme for Large Inventory 2026.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02. MODELO DE DATOS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Un proyecto se da de alta una vez y alimenta cinco sitios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291840" cy="411480"/>
          </a:xfrm>
          <a:prstGeom prst="rect">
            <a:avLst/>
          </a:prstGeom>
          <a:solidFill>
            <a:srgbClr val="A5C720"/>
          </a:solidFill>
          <a:ln w="12700">
            <a:solidFill>
              <a:srgbClr val="A5C7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772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PRODUCTO (66)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329184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777240" y="245059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Opciones: Color/RAL · Formato · Acabado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Metacampos: fase, superficie, int/ext, dificultad, rendimiento, capas, secado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Archivos: ficha técnica y de seguridad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Relaciones: antes · combina · después · necesitarás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43984" y="1920240"/>
            <a:ext cx="3291840" cy="411480"/>
          </a:xfrm>
          <a:prstGeom prst="rect">
            <a:avLst/>
          </a:prstGeom>
          <a:solidFill>
            <a:srgbClr val="B38ABE"/>
          </a:solidFill>
          <a:ln w="12700">
            <a:solidFill>
              <a:srgbClr val="B38A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4581144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METAOBJETO PROYECTO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43984" y="2331720"/>
            <a:ext cx="329184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4581144" y="245059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Categoría, dificultad, tiempo, coste, int/ext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Diagnóstico (5 bloques)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4 fases: producto, cantidad, tiempos, consejo, vídeo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Galería, FAQ, PDF, proyectos similares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47888" y="1920240"/>
            <a:ext cx="3291840" cy="411480"/>
          </a:xfrm>
          <a:prstGeom prst="rect">
            <a:avLst/>
          </a:prstGeom>
          <a:solidFill>
            <a:srgbClr val="EF9F10"/>
          </a:solidFill>
          <a:ln w="12700">
            <a:solidFill>
              <a:srgbClr val="EF9F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8385048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KIT (BUNDLE)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47888" y="2331720"/>
            <a:ext cx="329184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8385048" y="245059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Básico: 4 productos del método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Completo: + herramientas y accesorios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Precio pack vs. suelto: ahorro visible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El usuario quita lo que ya tiene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2880360"/>
            <a:ext cx="512064" cy="0"/>
          </a:xfrm>
          <a:prstGeom prst="line">
            <a:avLst/>
          </a:prstGeom>
          <a:noFill/>
          <a:ln w="19050">
            <a:solidFill>
              <a:srgbClr val="1E1E1E"/>
            </a:solidFill>
            <a:prstDash val="solid"/>
            <a:head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7735824" y="2880360"/>
            <a:ext cx="512064" cy="0"/>
          </a:xfrm>
          <a:prstGeom prst="line">
            <a:avLst/>
          </a:prstGeom>
          <a:noFill/>
          <a:ln w="19050">
            <a:solidFill>
              <a:srgbClr val="1E1E1E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6089904" y="3886200"/>
            <a:ext cx="0" cy="411480"/>
          </a:xfrm>
          <a:prstGeom prst="line">
            <a:avLst/>
          </a:prstGeom>
          <a:noFill/>
          <a:ln w="19050">
            <a:solidFill>
              <a:srgbClr val="1E1E1E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640080" y="4343400"/>
            <a:ext cx="2036003" cy="6858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731520" y="4343400"/>
            <a:ext cx="18531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Página de proyecto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858963" y="4343400"/>
            <a:ext cx="2036003" cy="6858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 txBox="1"/>
          <p:nvPr/>
        </p:nvSpPr>
        <p:spPr>
          <a:xfrm>
            <a:off x="2950403" y="4343400"/>
            <a:ext cx="18531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Kit y carrito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77846" y="4343400"/>
            <a:ext cx="2036003" cy="6858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 txBox="1"/>
          <p:nvPr/>
        </p:nvSpPr>
        <p:spPr>
          <a:xfrm>
            <a:off x="5169286" y="4343400"/>
            <a:ext cx="18531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Buscador guiado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296729" y="4343400"/>
            <a:ext cx="2036003" cy="6858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 txBox="1"/>
          <p:nvPr/>
        </p:nvSpPr>
        <p:spPr>
          <a:xfrm>
            <a:off x="7388169" y="4343400"/>
            <a:ext cx="18531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Ficha: «Proyectos compatibles»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515612" y="4343400"/>
            <a:ext cx="2036003" cy="6858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 txBox="1"/>
          <p:nvPr/>
        </p:nvSpPr>
        <p:spPr>
          <a:xfrm>
            <a:off x="9607052" y="4343400"/>
            <a:ext cx="18531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Emails postcompra por fase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2578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Por qué importa: </a:t>
            </a:r>
            <a:r>
              <a:rPr lang="en-US" sz="1200" dirty="0">
                <a:solidFill>
                  <a:schemeClr val="tx1"/>
                </a:solidFill>
              </a:rPr>
              <a:t>el equipo de marca debe poder crear un proyecto nuevo desde el admin, sin desarrollador. Es la condición para escalar de 10 a 50+ proyectos. Contenido editorial (tutoriales, guías, errores) en el blog nativo con etiquetas por tipo, material y fase.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02. APPS E INTEGRACIONES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Stack propuesto: nativo de Shopify primero, apps solo donde aportan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Función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Solución propuesta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Nota para el desarrollador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Venta UE + EE. UU.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Shopify Markets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EUR/USD, IVA OSS y sales tax, aranceles, dominios o subcarpetas por mercado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Idiomas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Translate &amp; Adapt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ES, CA, PT, EN, FR, DE, IT (confirmar alcance de lanzamiento)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Filtros y búsqueda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Search &amp; Discovery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Filtros por metacampo; sinónimos (RAL, «spray», «esmalte»)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Packs y kits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Shopify Bundles + bloque a medida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Kit básico/completo editable, ahorro visible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Postcompra y carrito abandonado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Shopify Flow + Shopify Email o Klaviyo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Disparadores por tiempo de secado del proyecto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Reseñas con foto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App de reseñas (p. ej. Judge.me)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Compra verificada, fotos antes/después, en ficha y proyecto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Wishlist · reposición · tiendas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Apps ligeras + store locator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Aviso de reposición por variante (color/formato)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Buscador guiado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Sección a medida sobre metaobjetos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Alternativa: app de quiz; preferimos a medida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Datos y analítica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Conector ERP · GA4 · píxeles Meta/TikTok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Stock y precio desde ERP; eventos propios (ver recomendaciones)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84648" cy="6858000"/>
          </a:xfrm>
          <a:prstGeom prst="rect">
            <a:avLst/>
          </a:prstGeom>
          <a:solidFill>
            <a:srgbClr val="AB8BBA"/>
          </a:solidFill>
          <a:ln w="12700">
            <a:solidFill>
              <a:srgbClr val="AB8BB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/home/claude/tpl/a/ph_18_33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4648" y="0"/>
            <a:ext cx="7007047" cy="6858000"/>
          </a:xfrm>
          <a:prstGeom prst="rect">
            <a:avLst/>
          </a:prstGeom>
        </p:spPr>
      </p:pic>
      <p:pic>
        <p:nvPicPr>
          <p:cNvPr id="4" name="Image 1" descr="/home/claude/tpl/a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29184"/>
            <a:ext cx="1024128" cy="210312"/>
          </a:xfrm>
          <a:prstGeom prst="rect">
            <a:avLst/>
          </a:prstGeom>
        </p:spPr>
      </p:pic>
      <p:pic>
        <p:nvPicPr>
          <p:cNvPr id="5" name="Image 2" descr="/home/claude/tpl/a/ic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984" y="274320"/>
            <a:ext cx="457200" cy="457200"/>
          </a:xfrm>
          <a:prstGeom prst="rect">
            <a:avLst/>
          </a:prstGeom>
        </p:spPr>
      </p:pic>
      <p:pic>
        <p:nvPicPr>
          <p:cNvPr id="6" name="Image 3" descr="/home/claude/tpl/a/sl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442448" y="3291840"/>
            <a:ext cx="2423160" cy="16459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 rot="16200000">
            <a:off x="-1280160" y="28346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9374A3"/>
                </a:solidFill>
              </a:rPr>
              <a:t>03. PÁGINAS Y WIREFRAMES</a:t>
            </a:r>
            <a:endParaRPr lang="en-US" sz="5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03. HOME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La home explica WEPRO en segundos y lleva al proyecto adecuado</a:t>
            </a:r>
            <a:endParaRPr lang="en-US" sz="2800" dirty="0"/>
          </a:p>
        </p:txBody>
      </p:sp>
      <p:pic>
        <p:nvPicPr>
          <p:cNvPr id="5" name="Image 1" descr="Wireframe Main part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2494178" cy="344335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828800"/>
            <a:ext cx="2494178" cy="3443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2" descr="Wireframe Main part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7138" y="1828800"/>
            <a:ext cx="2494178" cy="330825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317138" y="1828800"/>
            <a:ext cx="2494178" cy="330825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3" descr="Wireframe Main part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197" y="1828800"/>
            <a:ext cx="2494178" cy="405130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994197" y="1828800"/>
            <a:ext cx="2494178" cy="405130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5"/>
          <p:cNvSpPr txBox="1"/>
          <p:nvPr/>
        </p:nvSpPr>
        <p:spPr>
          <a:xfrm>
            <a:off x="8808415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CLAVES PARA EL DESARROLLADOR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8808415" y="21945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Hero, selector de necesidades y Método WEPRO deciden la conversión: deben verse en móvil sin más de 2 scrolls.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Cada necesidad abre Proyectos con el filtro aplicado.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Método WEPRO: pestañas con productos, consejo y proyectos + «Comprar esta fase».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Bloques reordenables para campañas y estacionalidad.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8808415" y="5394960"/>
            <a:ext cx="2743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8"/>
          <p:cNvSpPr txBox="1"/>
          <p:nvPr/>
        </p:nvSpPr>
        <p:spPr>
          <a:xfrm>
            <a:off x="8918143" y="53949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Versión interactiva en el canvas «WEPRO Microsite Wireframes».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03. PROYECTOS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Listado de proyectos: navegación por necesidad</a:t>
            </a:r>
            <a:endParaRPr lang="en-US" sz="2800" dirty="0"/>
          </a:p>
        </p:txBody>
      </p:sp>
      <p:pic>
        <p:nvPicPr>
          <p:cNvPr id="5" name="Image 1" descr="Wireframe Proyectos part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3832708" cy="280532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828800"/>
            <a:ext cx="3832708" cy="280532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2" descr="Wireframe Proyectos part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668" y="1828800"/>
            <a:ext cx="3832708" cy="280799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655668" y="1828800"/>
            <a:ext cx="3832708" cy="280799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4"/>
          <p:cNvSpPr txBox="1"/>
          <p:nvPr/>
        </p:nvSpPr>
        <p:spPr>
          <a:xfrm>
            <a:off x="8808415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CLAVES PARA EL DESARROLLADOR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8808415" y="21945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11 categorías y 8 filtros sobre metacampos del metaobjeto Proyecto.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Banner al buscador guiado para quien no sabe por dónde empezar.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Cada tarjeta muestra dificultad, tiempo, uso y «Kit desde [€]».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En móvil, filtros en panel lateral con contador.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808415" y="5394960"/>
            <a:ext cx="2743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7"/>
          <p:cNvSpPr txBox="1"/>
          <p:nvPr/>
        </p:nvSpPr>
        <p:spPr>
          <a:xfrm>
            <a:off x="8918143" y="53949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Versión interactiva en el canvas «WEPRO Microsite Wireframes».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03. PÁGINA DE PROYECTO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El proyecto se compra entero, por fases o a medida</a:t>
            </a:r>
            <a:endParaRPr lang="en-US" sz="2800" dirty="0"/>
          </a:p>
        </p:txBody>
      </p:sp>
      <p:pic>
        <p:nvPicPr>
          <p:cNvPr id="5" name="Image 1" descr="Wireframe Proyecto part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2494178" cy="301726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828800"/>
            <a:ext cx="2494178" cy="301726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2" descr="Wireframe Proyecto part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7138" y="1828800"/>
            <a:ext cx="2494178" cy="2598103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317138" y="1828800"/>
            <a:ext cx="2494178" cy="259810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3" descr="Wireframe Proyecto part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197" y="1828800"/>
            <a:ext cx="2494178" cy="3438156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994197" y="1828800"/>
            <a:ext cx="2494178" cy="34381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5"/>
          <p:cNvSpPr txBox="1"/>
          <p:nvPr/>
        </p:nvSpPr>
        <p:spPr>
          <a:xfrm>
            <a:off x="8808415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CLAVES PARA EL DESARROLLADOR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8808415" y="21945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Plantilla única de metaobjeto para todos los proyectos.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«Comprar todo el proyecto» fijo al hacer scroll.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Cada fase con producto, cantidades, tiempos y su propio CTA.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Kit editable: básico o completo, quitar lo que ya tengo, ahorro visible.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8808415" y="5394960"/>
            <a:ext cx="2743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8"/>
          <p:cNvSpPr txBox="1"/>
          <p:nvPr/>
        </p:nvSpPr>
        <p:spPr>
          <a:xfrm>
            <a:off x="8918143" y="53949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Versión interactiva en el canvas «WEPRO Microsite Wireframes».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03. PRODUCTOS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Las familias son las fases del método</a:t>
            </a:r>
            <a:endParaRPr lang="en-US" sz="2800" dirty="0"/>
          </a:p>
        </p:txBody>
      </p:sp>
      <p:pic>
        <p:nvPicPr>
          <p:cNvPr id="5" name="Image 1" descr="Wireframe Productos part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3832708" cy="273878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828800"/>
            <a:ext cx="3832708" cy="273878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2" descr="Wireframe Productos part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668" y="1828800"/>
            <a:ext cx="3832708" cy="400571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655668" y="1828800"/>
            <a:ext cx="3832708" cy="400571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4"/>
          <p:cNvSpPr txBox="1"/>
          <p:nvPr/>
        </p:nvSpPr>
        <p:spPr>
          <a:xfrm>
            <a:off x="8808415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CLAVES PARA EL DESARROLLADOR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8808415" y="21945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Repara, Prepara, Pinta y Protege con sus subfamilias como colecciones automáticas.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Texto de ayuda a la decisión en cada colección.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Una tarjeta por referencia con muestras de color, no una por color.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Cross-sell de fase: «¿Pintas metal? Necesitarás imprimación».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808415" y="5394960"/>
            <a:ext cx="2743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7"/>
          <p:cNvSpPr txBox="1"/>
          <p:nvPr/>
        </p:nvSpPr>
        <p:spPr>
          <a:xfrm>
            <a:off x="8918143" y="53949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Versión interactiva en el canvas «WEPRO Microsite Wireframes».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03. FICHA DE PRODUCTO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Fichas homogéneas y relaciones que explican su función</a:t>
            </a:r>
            <a:endParaRPr lang="en-US" sz="2800" dirty="0"/>
          </a:p>
        </p:txBody>
      </p:sp>
      <p:pic>
        <p:nvPicPr>
          <p:cNvPr id="5" name="Image 1" descr="Wireframe Ficha part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3775141" cy="390622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828800"/>
            <a:ext cx="3775141" cy="390622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2" descr="Wireframe Ficha part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101" y="1828800"/>
            <a:ext cx="3775141" cy="41605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598101" y="1828800"/>
            <a:ext cx="3775141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4"/>
          <p:cNvSpPr txBox="1"/>
          <p:nvPr/>
        </p:nvSpPr>
        <p:spPr>
          <a:xfrm>
            <a:off x="8808415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CLAVES PARA EL DESARROLLADOR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8808415" y="21945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Misma estructura para las 66 referencias.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Formato y color con muestras + buscador por código RAL.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10 datos prácticos fijos con icono (metacampos).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Relaciones: antes, combina, después, necesitarás y proyectos.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808415" y="5394960"/>
            <a:ext cx="2743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7"/>
          <p:cNvSpPr txBox="1"/>
          <p:nvPr/>
        </p:nvSpPr>
        <p:spPr>
          <a:xfrm>
            <a:off x="8918143" y="53949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Versión interactiva en el canvas «WEPRO Microsite Wireframes».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03. CÓMO SE HACE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Buscador guiado y biblioteca educativa</a:t>
            </a:r>
            <a:endParaRPr lang="en-US" sz="2800" dirty="0"/>
          </a:p>
        </p:txBody>
      </p:sp>
      <p:pic>
        <p:nvPicPr>
          <p:cNvPr id="5" name="Image 1" descr="Wireframe ComoSeHace part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3365814" cy="4160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828800"/>
            <a:ext cx="3365814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2" descr="Wireframe ComoSeHace part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8774" y="1828800"/>
            <a:ext cx="3365814" cy="235373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188774" y="1828800"/>
            <a:ext cx="3365814" cy="235373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4"/>
          <p:cNvSpPr txBox="1"/>
          <p:nvPr/>
        </p:nvSpPr>
        <p:spPr>
          <a:xfrm>
            <a:off x="8808415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CLAVES PARA EL DESARROLLADOR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8808415" y="21945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4 preguntas → proyecto, productos en orden, tiempo y kit.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Sección a medida que lee los metaobjetos Proyecto.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Biblioteca en el blog nativo con etiquetas por tipo, material y fase.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Comparadores y FAQ con datos estructurados.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808415" y="5394960"/>
            <a:ext cx="2743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7"/>
          <p:cNvSpPr txBox="1"/>
          <p:nvPr/>
        </p:nvSpPr>
        <p:spPr>
          <a:xfrm>
            <a:off x="8918143" y="53949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Versión interactiva en el canvas «WEPRO Microsite Wireframes».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03. TIENDA Y CARRITO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Ocho formas de comprar y un carrito que vende la siguiente fase</a:t>
            </a:r>
            <a:endParaRPr lang="en-US" sz="2800" dirty="0"/>
          </a:p>
        </p:txBody>
      </p:sp>
      <p:pic>
        <p:nvPicPr>
          <p:cNvPr id="5" name="Image 1" descr="Wireframe Tienda part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3832708" cy="300228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828800"/>
            <a:ext cx="3832708" cy="300228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2" descr="Wireframe Tienda part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668" y="1828800"/>
            <a:ext cx="3832708" cy="334031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655668" y="1828800"/>
            <a:ext cx="3832708" cy="334031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4"/>
          <p:cNvSpPr txBox="1"/>
          <p:nvPr/>
        </p:nvSpPr>
        <p:spPr>
          <a:xfrm>
            <a:off x="8808415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CLAVES PARA EL DESARROLLADOR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8808415" y="21945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Las 8 puertas se repiten en el mega menú «Tienda».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Carrito lateral con barra de envío gratis, código promocional y pago exprés.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«Completa tu proyecto» se alimenta de las relaciones de producto.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La checklist de funciones es obligatoria, no una sección visible.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808415" y="5394960"/>
            <a:ext cx="2743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7"/>
          <p:cNvSpPr txBox="1"/>
          <p:nvPr/>
        </p:nvSpPr>
        <p:spPr>
          <a:xfrm>
            <a:off x="8918143" y="53949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Versión interactiva en el canvas «WEPRO Microsite Wireframes».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03. POSTCOMPRA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La compra es el inicio del proyecto, no el final</a:t>
            </a:r>
            <a:endParaRPr lang="en-US" sz="2800" dirty="0"/>
          </a:p>
        </p:txBody>
      </p:sp>
      <p:pic>
        <p:nvPicPr>
          <p:cNvPr id="5" name="Image 1" descr="Wireframe Postcompra part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3832708" cy="2025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828800"/>
            <a:ext cx="3832708" cy="20254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2" descr="Wireframe Postcompra part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668" y="1828800"/>
            <a:ext cx="3832708" cy="260038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655668" y="1828800"/>
            <a:ext cx="3832708" cy="260038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4"/>
          <p:cNvSpPr txBox="1"/>
          <p:nvPr/>
        </p:nvSpPr>
        <p:spPr>
          <a:xfrm>
            <a:off x="8808415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CLAVES PARA EL DESARROLLADOR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8808415" y="21945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Página de gracias con el proyecto, orden de aplicación y tutorial.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Secuencia de 8 contactos con Flow + Shopify Email o Klaviyo.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El aviso «siguiente fase» se dispara según el tiempo de secado del proyecto.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Valoración y antes/después alimentan la galería y las reseñas.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808415" y="5394960"/>
            <a:ext cx="2743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7"/>
          <p:cNvSpPr txBox="1"/>
          <p:nvPr/>
        </p:nvSpPr>
        <p:spPr>
          <a:xfrm>
            <a:off x="8918143" y="53949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Versión interactiva en el canvas «WEPRO Microsite Wireframes».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84648" cy="6858000"/>
          </a:xfrm>
          <a:prstGeom prst="rect">
            <a:avLst/>
          </a:prstGeom>
          <a:solidFill>
            <a:srgbClr val="CA4D83"/>
          </a:solidFill>
          <a:ln w="12700">
            <a:solidFill>
              <a:srgbClr val="CA4D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/home/claude/tpl/a/ph_27_40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4648" y="0"/>
            <a:ext cx="7007047" cy="6858000"/>
          </a:xfrm>
          <a:prstGeom prst="rect">
            <a:avLst/>
          </a:prstGeom>
        </p:spPr>
      </p:pic>
      <p:pic>
        <p:nvPicPr>
          <p:cNvPr id="4" name="Image 1" descr="/home/claude/tpl/a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29184"/>
            <a:ext cx="1024128" cy="210312"/>
          </a:xfrm>
          <a:prstGeom prst="rect">
            <a:avLst/>
          </a:prstGeom>
        </p:spPr>
      </p:pic>
      <p:pic>
        <p:nvPicPr>
          <p:cNvPr id="5" name="Image 2" descr="/home/claude/tpl/a/ic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984" y="274320"/>
            <a:ext cx="457200" cy="457200"/>
          </a:xfrm>
          <a:prstGeom prst="rect">
            <a:avLst/>
          </a:prstGeom>
        </p:spPr>
      </p:pic>
      <p:pic>
        <p:nvPicPr>
          <p:cNvPr id="6" name="Image 3" descr="/home/claude/tpl/a/sl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442448" y="3291840"/>
            <a:ext cx="2423160" cy="16459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 rot="16200000">
            <a:off x="-1280160" y="28346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B03C6F"/>
                </a:solidFill>
              </a:rPr>
              <a:t>04. RECOMENDACIONES</a:t>
            </a:r>
            <a:endParaRPr lang="en-US" sz="5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04. UX Y CONVERSIÓN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Seis reglas de diseño que pedimos respetar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3454298" cy="1965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1" descr="/home/claude/tpl/a/s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1248" y="2075688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2075688"/>
            <a:ext cx="2539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Proyecto antes que producto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41248" y="2606040"/>
            <a:ext cx="305196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CTA principal «Comprar el proyecto completo». Cada fase con su CTA («Comprar esta fase», «Continuar con el siguiente paso»).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368698" y="1874520"/>
            <a:ext cx="3454298" cy="1965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2" descr="/home/claude/tpl/a/b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69866" y="207568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00218" y="2075688"/>
            <a:ext cx="2539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Mobile first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4569866" y="2606040"/>
            <a:ext cx="305196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Diseñar primero a 390 px. Barra fija de compra en ficha y proyecto. Filtros en panel lateral.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097317" y="1874520"/>
            <a:ext cx="3454298" cy="1965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3" descr="/home/claude/tpl/a/b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98485" y="207568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828837" y="2075688"/>
            <a:ext cx="2539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Variantes sin fricción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298485" y="2606040"/>
            <a:ext cx="305196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Swatches en tarjeta y ficha, buscador por código RAL, la foto cambia con el color, aviso de reposición por variante.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0080" y="4023360"/>
            <a:ext cx="3454298" cy="1965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4" descr="/home/claude/tpl/a/b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1248" y="4224528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71600" y="4224528"/>
            <a:ext cx="2539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Velocidad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841248" y="4754880"/>
            <a:ext cx="305196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Core Web Vitals en verde: LCP &lt; 2,5 s, INP &lt; 200 ms, CLS &lt; 0,1. Vídeo con carga diferida, imágenes WebP.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368698" y="4023360"/>
            <a:ext cx="3454298" cy="1965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5" descr="/home/claude/tpl/a/b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69866" y="4224528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100218" y="4224528"/>
            <a:ext cx="2539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Confianza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4569866" y="4754880"/>
            <a:ext cx="305196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Reseñas con foto, envío y plazos por país visibles antes del checkout, devoluciones claras, MTN solo como sello de calidad.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8097317" y="4023360"/>
            <a:ext cx="3454298" cy="1965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6" name="Image 6" descr="/home/claude/tpl/a/b4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98485" y="4224528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828837" y="4224528"/>
            <a:ext cx="2539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Checkout rápido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8298485" y="4754880"/>
            <a:ext cx="305196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Compra sin registro, pago exprés (Shop Pay, Apple Pay, Google Pay) y métodos locales por mercado.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04. TÉCNICA Y REGULATORIO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Lo que no se ve, pero condiciona el lanzamiento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585216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822960" y="198424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SEO internacional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60604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Subcarpetas por mercado con Markets y hreflang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Datos estructurados Product y Review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URLs limpias: /proyectos/reparar-mesa-madera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898648"/>
            <a:ext cx="585216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22960" y="300837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Analítica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29900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GA4 + píxeles Meta y TikTok vía Customer Events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Eventos propios: proyecto_visto, fase_añadida, kit_añadido, buscador_completado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922776"/>
            <a:ext cx="585216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822960" y="403250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Accesibilidad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401421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WCAG 2.2 AA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La Ley Europea de Accesibilidad aplica al ecommerce desde el 28/06/2025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4946904"/>
            <a:ext cx="585216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822960" y="50566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Gobierno del tema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606040" y="503834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Tema duplicado, GitHub y entorno de pruebas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Nada se edita en producción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Formación al equipo de marca para crear proyectos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0" y="1874520"/>
            <a:ext cx="4782312" cy="39867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699516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4D84"/>
                </a:solidFill>
              </a:rPr>
              <a:t>A VALIDAR ANTES DE PRESUPUESTAR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2377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Aerosoles = mercancía peligrosa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283464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Envío como UN1950 en cantidad limitada: transportistas que lo acepten por país y reglas de tarifa en checkout.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EE. UU.: revisar límites de COV de pinturas en aerosol (California, CARB) y avisos Prop 65 antes de abrir el mercado.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Fichas de seguridad y pictogramas CLP descargables en cada ficha.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Consentimiento de cookies y condiciones de venta por país.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EC5B"/>
                </a:solidFill>
              </a:rPr>
              <a:t>Responsables: Logística y Regulatory de Montana Colors.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84648" cy="6858000"/>
          </a:xfrm>
          <a:prstGeom prst="rect">
            <a:avLst/>
          </a:prstGeom>
          <a:solidFill>
            <a:srgbClr val="E49835"/>
          </a:solidFill>
          <a:ln w="12700">
            <a:solidFill>
              <a:srgbClr val="E498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/home/claude/tpl/a/ph_29_41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4648" y="0"/>
            <a:ext cx="7007047" cy="6858000"/>
          </a:xfrm>
          <a:prstGeom prst="rect">
            <a:avLst/>
          </a:prstGeom>
        </p:spPr>
      </p:pic>
      <p:pic>
        <p:nvPicPr>
          <p:cNvPr id="4" name="Image 1" descr="/home/claude/tpl/a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29184"/>
            <a:ext cx="1024128" cy="210312"/>
          </a:xfrm>
          <a:prstGeom prst="rect">
            <a:avLst/>
          </a:prstGeom>
        </p:spPr>
      </p:pic>
      <p:pic>
        <p:nvPicPr>
          <p:cNvPr id="5" name="Image 2" descr="/home/claude/tpl/a/ic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984" y="274320"/>
            <a:ext cx="457200" cy="457200"/>
          </a:xfrm>
          <a:prstGeom prst="rect">
            <a:avLst/>
          </a:prstGeom>
        </p:spPr>
      </p:pic>
      <p:pic>
        <p:nvPicPr>
          <p:cNvPr id="6" name="Image 3" descr="/home/claude/tpl/a/sl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442448" y="3291840"/>
            <a:ext cx="2423160" cy="16459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 rot="16200000">
            <a:off x="-1280160" y="28346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C9801F"/>
                </a:solidFill>
              </a:rPr>
              <a:t>05. REFERENCIAS DE INSPIRACIÓN</a:t>
            </a:r>
            <a:endParaRPr lang="en-US" sz="5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05. PROYECTOS QUE SE COMPRAN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Frenchic y Leroy Merlin: del proyecto a la lista de la compra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72888" cy="23774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3152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6868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0584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1188720" y="1856232"/>
            <a:ext cx="454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9D9D9"/>
                </a:solidFill>
              </a:rPr>
              <a:t>frenchicpaint.co.uk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5272888" cy="2459736"/>
          </a:xfrm>
          <a:prstGeom prst="rect">
            <a:avLst/>
          </a:prstGeom>
          <a:solidFill>
            <a:srgbClr val="E7E7E2"/>
          </a:solidFill>
          <a:ln w="12700">
            <a:solidFill>
              <a:srgbClr val="E7E7E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914400" y="2066544"/>
            <a:ext cx="47242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CAPTURA PENDIENTE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Home con menú «Shop by» (color, producto, estancia, proyecto)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1828800"/>
            <a:ext cx="5272888" cy="26974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640080" y="4636008"/>
            <a:ext cx="527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Frenchic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</a:rPr>
              <a:t>POR QUÉ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Pintura para muebles con navegación por color, producto, estancia y proyecto, Frenchic TV, packs y kits y más de 500 tiendas en su localizador.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413684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801F"/>
                </a:solidFill>
              </a:rPr>
              <a:t>QUÉ TOMAR PARA WEPRO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413684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Menú «Comprar por…», vídeos de proyecto completos y localizador de tiendas integrado.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78728" y="1828800"/>
            <a:ext cx="5272888" cy="23774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637016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650732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64448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6827368" y="1856232"/>
            <a:ext cx="454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9D9D9"/>
                </a:solidFill>
              </a:rPr>
              <a:t>leroymerlin.es/proyectos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278728" y="2066544"/>
            <a:ext cx="5272888" cy="2459736"/>
          </a:xfrm>
          <a:prstGeom prst="rect">
            <a:avLst/>
          </a:prstGeom>
          <a:solidFill>
            <a:srgbClr val="E7E7E2"/>
          </a:solidFill>
          <a:ln w="12700">
            <a:solidFill>
              <a:srgbClr val="E7E7E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6553048" y="2066544"/>
            <a:ext cx="47242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CAPTURA PENDIENTE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Página Proyectos o un Paso a paso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78728" y="1828800"/>
            <a:ext cx="5272888" cy="26974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 txBox="1"/>
          <p:nvPr/>
        </p:nvSpPr>
        <p:spPr>
          <a:xfrm>
            <a:off x="6278728" y="4636008"/>
            <a:ext cx="527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Leroy Merlin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278728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</a:rPr>
              <a:t>POR QUÉ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278728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Líder del bricolaje en España. Proyectos y Paso a paso conectan la idea con los productos necesarios.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9052331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801F"/>
                </a:solidFill>
              </a:rPr>
              <a:t>QUÉ TOMAR PARA WEPRO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052331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Taxonomía de proyectos por estancia y paso a paso con lista de materiales comprable.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05. INSPIRACIÓN COMPRABLE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IKEA y ManoMano: inspirar y guiar la compra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72888" cy="23774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3152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6868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0584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1188720" y="1856232"/>
            <a:ext cx="454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9D9D9"/>
                </a:solidFill>
              </a:rPr>
              <a:t>ikea.com/es/es/ideas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5272888" cy="2459736"/>
          </a:xfrm>
          <a:prstGeom prst="rect">
            <a:avLst/>
          </a:prstGeom>
          <a:solidFill>
            <a:srgbClr val="E7E7E2"/>
          </a:solidFill>
          <a:ln w="12700">
            <a:solidFill>
              <a:srgbClr val="E7E7E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914400" y="2066544"/>
            <a:ext cx="47242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CAPTURA PENDIENTE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Página de ideas con productos etiquetados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1828800"/>
            <a:ext cx="5272888" cy="26974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640080" y="4636008"/>
            <a:ext cx="527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IKEA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</a:rPr>
              <a:t>POR QUÉ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La referencia en inspiración comprable: cada idea o ambiente lleva a los productos que aparecen en la foto.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413684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801F"/>
                </a:solidFill>
              </a:rPr>
              <a:t>QUÉ TOMAR PARA WEPRO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413684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Fotos de resultado con productos etiquetados: «compra el look» aplicado a proyectos.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78728" y="1828800"/>
            <a:ext cx="5272888" cy="23774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637016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650732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64448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6827368" y="1856232"/>
            <a:ext cx="454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9D9D9"/>
                </a:solidFill>
              </a:rPr>
              <a:t>manomano.es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278728" y="2066544"/>
            <a:ext cx="5272888" cy="2459736"/>
          </a:xfrm>
          <a:prstGeom prst="rect">
            <a:avLst/>
          </a:prstGeom>
          <a:solidFill>
            <a:srgbClr val="E7E7E2"/>
          </a:solidFill>
          <a:ln w="12700">
            <a:solidFill>
              <a:srgbClr val="E7E7E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6553048" y="2066544"/>
            <a:ext cx="47242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CAPTURA PENDIENTE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Home o una guía de compra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78728" y="1828800"/>
            <a:ext cx="5272888" cy="26974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 txBox="1"/>
          <p:nvPr/>
        </p:nvSpPr>
        <p:spPr>
          <a:xfrm>
            <a:off x="6278728" y="4636008"/>
            <a:ext cx="527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ManoMano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278728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</a:rPr>
              <a:t>POR QUÉ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278728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Marketplace europeo de bricolaje con guías de compra y consejos asociados a cada categoría.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9052331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801F"/>
                </a:solidFill>
              </a:rPr>
              <a:t>QUÉ TOMAR PARA WEPRO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052331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Guías por material y comparadores conectados al listado de productos.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05. MARCA D2C DE PINTURA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Lick, Backdrop y Clare: pintura vendida como experiencia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72888" cy="23774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3152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6868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0584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1188720" y="1856232"/>
            <a:ext cx="454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9D9D9"/>
                </a:solidFill>
              </a:rPr>
              <a:t>lick.com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5272888" cy="2459736"/>
          </a:xfrm>
          <a:prstGeom prst="rect">
            <a:avLst/>
          </a:prstGeom>
          <a:solidFill>
            <a:srgbClr val="E7E7E2"/>
          </a:solidFill>
          <a:ln w="12700">
            <a:solidFill>
              <a:srgbClr val="E7E7E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914400" y="2066544"/>
            <a:ext cx="47242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CAPTURA PENDIENTE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Home de Lick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1828800"/>
            <a:ext cx="5272888" cy="26974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640080" y="4636008"/>
            <a:ext cx="527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Lick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</a:rPr>
              <a:t>POR QUÉ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Pintura y papel D2C en Reino Unido sobre Shopify (headless). Con su nuevo site duplicó ventas y subió un 20% «Añadir a la bolsa» (Hygraph).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413684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801F"/>
                </a:solidFill>
              </a:rPr>
              <a:t>QUÉ TOMAR PARA WEPRO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413684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Componentes modulares que el equipo de marca publica sin desarrollador. Tono joven y directo.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78728" y="1828800"/>
            <a:ext cx="5272888" cy="23774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637016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650732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64448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6827368" y="1856232"/>
            <a:ext cx="454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9D9D9"/>
                </a:solidFill>
              </a:rPr>
              <a:t>backdrophome.com · clare.com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278728" y="2066544"/>
            <a:ext cx="5272888" cy="2459736"/>
          </a:xfrm>
          <a:prstGeom prst="rect">
            <a:avLst/>
          </a:prstGeom>
          <a:solidFill>
            <a:srgbClr val="E7E7E2"/>
          </a:solidFill>
          <a:ln w="12700">
            <a:solidFill>
              <a:srgbClr val="E7E7E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6553048" y="2066544"/>
            <a:ext cx="47242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CAPTURA PENDIENTE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Home o kit de inicio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78728" y="1828800"/>
            <a:ext cx="5272888" cy="26974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 txBox="1"/>
          <p:nvPr/>
        </p:nvSpPr>
        <p:spPr>
          <a:xfrm>
            <a:off x="6278728" y="4636008"/>
            <a:ext cx="527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Backdrop y Clare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278728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</a:rPr>
              <a:t>POR QUÉ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278728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D2C de pintura en EE. UU.: pocos colores bien elegidos, muestras adhesivas, kits de inicio con herramientas y asesor de color online.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9052331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801F"/>
                </a:solidFill>
              </a:rPr>
              <a:t>QUÉ TOMAR PARA WEPRO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052331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Kit «todo lo que necesitas», menos opciones mejor explicadas y ayuda para elegir.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05. PACKS, INTERNACIONAL Y RELATO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Our Place y Farrow &amp; Ball: packs que convierten y marca que enamora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72888" cy="23774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3152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6868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05840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1188720" y="1856232"/>
            <a:ext cx="454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9D9D9"/>
                </a:solidFill>
              </a:rPr>
              <a:t>fromourplace.com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5272888" cy="2459736"/>
          </a:xfrm>
          <a:prstGeom prst="rect">
            <a:avLst/>
          </a:prstGeom>
          <a:solidFill>
            <a:srgbClr val="E7E7E2"/>
          </a:solidFill>
          <a:ln w="12700">
            <a:solidFill>
              <a:srgbClr val="E7E7E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914400" y="2066544"/>
            <a:ext cx="47242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CAPTURA PENDIENTE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Página de sets / packs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1828800"/>
            <a:ext cx="5272888" cy="26974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640080" y="4636008"/>
            <a:ext cx="527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Our Place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</a:rPr>
              <a:t>POR QUÉ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Marca D2C en Shopify con sets como producto estrella, expansión a Canadá, Reino Unido y Australia y checkout de una página.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413684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801F"/>
                </a:solidFill>
              </a:rPr>
              <a:t>QUÉ TOMAR PARA WEPRO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413684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Packs con ahorro visible, despliegue por mercados y checkout corto.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78728" y="1828800"/>
            <a:ext cx="5272888" cy="23774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637016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650732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644488" y="1901952"/>
            <a:ext cx="91440" cy="91440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6827368" y="1856232"/>
            <a:ext cx="454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9D9D9"/>
                </a:solidFill>
              </a:rPr>
              <a:t>farrow-ball.com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278728" y="2066544"/>
            <a:ext cx="5272888" cy="2459736"/>
          </a:xfrm>
          <a:prstGeom prst="rect">
            <a:avLst/>
          </a:prstGeom>
          <a:solidFill>
            <a:srgbClr val="E7E7E2"/>
          </a:solidFill>
          <a:ln w="12700">
            <a:solidFill>
              <a:srgbClr val="E7E7E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6553048" y="2066544"/>
            <a:ext cx="47242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CAPTURA PENDIENTE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Página de un color o de inspiración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78728" y="1828800"/>
            <a:ext cx="5272888" cy="26974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 txBox="1"/>
          <p:nvPr/>
        </p:nvSpPr>
        <p:spPr>
          <a:xfrm>
            <a:off x="6278728" y="4636008"/>
            <a:ext cx="527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Farrow &amp; Ball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278728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</a:rPr>
              <a:t>POR QUÉ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278728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Pintura premium que vende con relato: historia de cada color, inspiración por estancia y muestras.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9052331" y="5029200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801F"/>
                </a:solidFill>
              </a:rPr>
              <a:t>QUÉ TOMAR PARA WEPRO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052331" y="525780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Contar el porqué de cada producto sin jerga química; la foto de resultado manda.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84648" cy="6858000"/>
          </a:xfrm>
          <a:prstGeom prst="rect">
            <a:avLst/>
          </a:prstGeom>
          <a:solidFill>
            <a:srgbClr val="50C0E3"/>
          </a:solidFill>
          <a:ln w="12700">
            <a:solidFill>
              <a:srgbClr val="50C0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/home/claude/tpl/a/ph_31_43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4648" y="0"/>
            <a:ext cx="7007047" cy="6858000"/>
          </a:xfrm>
          <a:prstGeom prst="rect">
            <a:avLst/>
          </a:prstGeom>
        </p:spPr>
      </p:pic>
      <p:pic>
        <p:nvPicPr>
          <p:cNvPr id="4" name="Image 1" descr="/home/claude/tpl/a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29184"/>
            <a:ext cx="1024128" cy="210312"/>
          </a:xfrm>
          <a:prstGeom prst="rect">
            <a:avLst/>
          </a:prstGeom>
        </p:spPr>
      </p:pic>
      <p:pic>
        <p:nvPicPr>
          <p:cNvPr id="5" name="Image 2" descr="/home/claude/tpl/a/ic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984" y="274320"/>
            <a:ext cx="457200" cy="457200"/>
          </a:xfrm>
          <a:prstGeom prst="rect">
            <a:avLst/>
          </a:prstGeom>
        </p:spPr>
      </p:pic>
      <p:pic>
        <p:nvPicPr>
          <p:cNvPr id="6" name="Image 3" descr="/home/claude/tpl/a/sl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442448" y="3291840"/>
            <a:ext cx="2423160" cy="16459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 rot="16200000">
            <a:off x="-1280160" y="28346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36A6CB"/>
                </a:solidFill>
              </a:rPr>
              <a:t>06. PLANNING Y ENTREGABLES</a:t>
            </a:r>
            <a:endParaRPr lang="en-US" sz="5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06. PLANNING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Propuesta: 18 semanas, de noviembre 2026 a marzo 2027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2 nov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3707536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S2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707536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9 nov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168953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68953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16 nov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4630369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S4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630369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23 nov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5091786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S5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091786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30 nov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5553202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S6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553202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7 dic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6014618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S7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014618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14 dic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6476035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S8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476035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21 dic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6937451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S9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937451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28 dic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7398868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S10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398868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4 ene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860284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S11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7860284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11 ene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8321700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S12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321700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18 ene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8783117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S13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783117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25 ene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9244533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S14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9244533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1 feb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9705950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S15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9705950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8 feb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0167366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S16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0167366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15 feb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10628782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S17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0628782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22 feb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11090199" y="1828800"/>
            <a:ext cx="46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S18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1090199" y="2029968"/>
            <a:ext cx="46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1 mar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476035" y="2267712"/>
            <a:ext cx="922833" cy="3611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9"/>
          <p:cNvSpPr txBox="1"/>
          <p:nvPr/>
        </p:nvSpPr>
        <p:spPr>
          <a:xfrm>
            <a:off x="6476035" y="2377440"/>
            <a:ext cx="9228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</a:rPr>
              <a:t>Navidad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640080" y="2331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Kickoff, accesos y setup Shopify / Markets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246120" y="2660904"/>
            <a:ext cx="8305495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2"/>
          <p:cNvSpPr/>
          <p:nvPr/>
        </p:nvSpPr>
        <p:spPr>
          <a:xfrm>
            <a:off x="3273552" y="2377440"/>
            <a:ext cx="867969" cy="219456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3"/>
          <p:cNvSpPr txBox="1"/>
          <p:nvPr/>
        </p:nvSpPr>
        <p:spPr>
          <a:xfrm>
            <a:off x="640080" y="26837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Diseño UI sobre wireframes (desktop + móvil)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3246120" y="3012948"/>
            <a:ext cx="8305495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5"/>
          <p:cNvSpPr/>
          <p:nvPr/>
        </p:nvSpPr>
        <p:spPr>
          <a:xfrm>
            <a:off x="3734968" y="2729484"/>
            <a:ext cx="2252218" cy="219456"/>
          </a:xfrm>
          <a:prstGeom prst="roundRect">
            <a:avLst>
              <a:gd name="adj" fmla="val 50000"/>
            </a:avLst>
          </a:prstGeom>
          <a:solidFill>
            <a:srgbClr val="B38ABE"/>
          </a:solidFill>
          <a:ln w="12700">
            <a:solidFill>
              <a:srgbClr val="B38A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6"/>
          <p:cNvSpPr txBox="1"/>
          <p:nvPr/>
        </p:nvSpPr>
        <p:spPr>
          <a:xfrm>
            <a:off x="640080" y="30358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Catálogo: 66 refs., metacampos, traducciones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3246120" y="3364992"/>
            <a:ext cx="8305495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8"/>
          <p:cNvSpPr/>
          <p:nvPr/>
        </p:nvSpPr>
        <p:spPr>
          <a:xfrm>
            <a:off x="4196385" y="3081528"/>
            <a:ext cx="2713634" cy="219456"/>
          </a:xfrm>
          <a:prstGeom prst="roundRect">
            <a:avLst>
              <a:gd name="adj" fmla="val 50000"/>
            </a:avLst>
          </a:prstGeom>
          <a:solidFill>
            <a:srgbClr val="A5C720"/>
          </a:solidFill>
          <a:ln w="12700">
            <a:solidFill>
              <a:srgbClr val="A5C7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49"/>
          <p:cNvSpPr txBox="1"/>
          <p:nvPr/>
        </p:nvSpPr>
        <p:spPr>
          <a:xfrm>
            <a:off x="640080" y="33878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Contenido: 10 proyectos de lanzamiento + vídeos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3246120" y="3717036"/>
            <a:ext cx="8305495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1"/>
          <p:cNvSpPr/>
          <p:nvPr/>
        </p:nvSpPr>
        <p:spPr>
          <a:xfrm>
            <a:off x="4196385" y="3433572"/>
            <a:ext cx="4559300" cy="219456"/>
          </a:xfrm>
          <a:prstGeom prst="roundRect">
            <a:avLst>
              <a:gd name="adj" fmla="val 50000"/>
            </a:avLst>
          </a:prstGeom>
          <a:solidFill>
            <a:srgbClr val="C94D84"/>
          </a:solidFill>
          <a:ln w="12700">
            <a:solidFill>
              <a:srgbClr val="C94D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2"/>
          <p:cNvSpPr txBox="1"/>
          <p:nvPr/>
        </p:nvSpPr>
        <p:spPr>
          <a:xfrm>
            <a:off x="640080" y="37398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Desarrollo tema Horizon + bloques a medida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3246120" y="4069080"/>
            <a:ext cx="8305495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Shape 54"/>
          <p:cNvSpPr/>
          <p:nvPr/>
        </p:nvSpPr>
        <p:spPr>
          <a:xfrm>
            <a:off x="5119218" y="3785616"/>
            <a:ext cx="3636467" cy="219456"/>
          </a:xfrm>
          <a:prstGeom prst="roundRect">
            <a:avLst>
              <a:gd name="adj" fmla="val 50000"/>
            </a:avLst>
          </a:prstGeom>
          <a:solidFill>
            <a:srgbClr val="5DC4E5"/>
          </a:solidFill>
          <a:ln w="12700">
            <a:solidFill>
              <a:srgbClr val="5DC4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5"/>
          <p:cNvSpPr txBox="1"/>
          <p:nvPr/>
        </p:nvSpPr>
        <p:spPr>
          <a:xfrm>
            <a:off x="640080" y="40919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Apps, pagos, envíos e impuestos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3246120" y="4421124"/>
            <a:ext cx="8305495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7"/>
          <p:cNvSpPr/>
          <p:nvPr/>
        </p:nvSpPr>
        <p:spPr>
          <a:xfrm>
            <a:off x="6042050" y="4137660"/>
            <a:ext cx="2713634" cy="219456"/>
          </a:xfrm>
          <a:prstGeom prst="roundRect">
            <a:avLst>
              <a:gd name="adj" fmla="val 50000"/>
            </a:avLst>
          </a:prstGeom>
          <a:solidFill>
            <a:srgbClr val="EF9F10"/>
          </a:solidFill>
          <a:ln w="12700">
            <a:solidFill>
              <a:srgbClr val="EF9F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8"/>
          <p:cNvSpPr txBox="1"/>
          <p:nvPr/>
        </p:nvSpPr>
        <p:spPr>
          <a:xfrm>
            <a:off x="640080" y="44439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Postcompra y emails (Flow / Klaviyo)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3246120" y="4773168"/>
            <a:ext cx="8305495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Shape 60"/>
          <p:cNvSpPr/>
          <p:nvPr/>
        </p:nvSpPr>
        <p:spPr>
          <a:xfrm>
            <a:off x="6964883" y="4489704"/>
            <a:ext cx="2252218" cy="219456"/>
          </a:xfrm>
          <a:prstGeom prst="roundRect">
            <a:avLst>
              <a:gd name="adj" fmla="val 50000"/>
            </a:avLst>
          </a:prstGeom>
          <a:solidFill>
            <a:srgbClr val="F4EC5B"/>
          </a:solidFill>
          <a:ln w="12700">
            <a:solidFill>
              <a:srgbClr val="F4EC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1"/>
          <p:cNvSpPr txBox="1"/>
          <p:nvPr/>
        </p:nvSpPr>
        <p:spPr>
          <a:xfrm>
            <a:off x="640080" y="47960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QA, pruebas de usuario y rendimiento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3246120" y="5125212"/>
            <a:ext cx="8305495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3"/>
          <p:cNvSpPr/>
          <p:nvPr/>
        </p:nvSpPr>
        <p:spPr>
          <a:xfrm>
            <a:off x="8349132" y="4841748"/>
            <a:ext cx="1329385" cy="219456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4"/>
          <p:cNvSpPr txBox="1"/>
          <p:nvPr/>
        </p:nvSpPr>
        <p:spPr>
          <a:xfrm>
            <a:off x="640080" y="5148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Soft launch España + Portugal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3246120" y="5477256"/>
            <a:ext cx="8305495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Shape 66"/>
          <p:cNvSpPr/>
          <p:nvPr/>
        </p:nvSpPr>
        <p:spPr>
          <a:xfrm>
            <a:off x="9790354" y="5148072"/>
            <a:ext cx="292608" cy="292608"/>
          </a:xfrm>
          <a:prstGeom prst="diamond">
            <a:avLst/>
          </a:prstGeom>
          <a:solidFill>
            <a:srgbClr val="C94D84"/>
          </a:solidFill>
          <a:ln w="12700">
            <a:solidFill>
              <a:srgbClr val="C94D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Text 67"/>
          <p:cNvSpPr txBox="1"/>
          <p:nvPr/>
        </p:nvSpPr>
        <p:spPr>
          <a:xfrm>
            <a:off x="640080" y="55001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Despliegue resto UE + EE. UU.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3246120" y="5829300"/>
            <a:ext cx="8305495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Shape 69"/>
          <p:cNvSpPr/>
          <p:nvPr/>
        </p:nvSpPr>
        <p:spPr>
          <a:xfrm>
            <a:off x="10656214" y="5545836"/>
            <a:ext cx="867969" cy="219456"/>
          </a:xfrm>
          <a:prstGeom prst="roundRect">
            <a:avLst>
              <a:gd name="adj" fmla="val 50000"/>
            </a:avLst>
          </a:prstGeom>
          <a:solidFill>
            <a:srgbClr val="5DC4E5"/>
          </a:solidFill>
          <a:ln w="12700">
            <a:solidFill>
              <a:srgbClr val="5DC4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70"/>
          <p:cNvSpPr txBox="1"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Fechas orientativas: semana 1 = lunes 2 de noviembre de 2026. La agencia ajustará el plan en su propuesta. El despliegue en EE. UU. depende de la validación regulatoria de aerosoles.</a:t>
            </a:r>
            <a:endParaRPr lang="en-US" sz="1000" dirty="0"/>
          </a:p>
        </p:txBody>
      </p:sp>
      <p:sp>
        <p:nvSpPr>
          <p:cNvPr id="7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06. HITOS Y ROLES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Ocho hitos de validación y un responsable claro para cada frente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675120" cy="9144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Hito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Semana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Fecha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Entregable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Kickoff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2 nov 2026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Accesos, plan detallado, tema duplicado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UI clave validada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S4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23 nov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Home, proyecto y ficha (desktop + móvil)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UI completa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7 dic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8 plantillas + componentes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Catálogo validado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S8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21 dic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66 refs. con metacampos y traducciones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Staging completo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S12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18 ene 2027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Site funcional con apps y pagos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Go / no-go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S14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1 feb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QA, rendimiento y accesibilidad OK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Soft launch ES + PT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S15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8 feb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Venta real en 2 mercados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</a:rPr>
                        <a:t>Despliegue UE + EE. UU.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S17-18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22 feb - 1 mar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</a:rPr>
                        <a:t>Resto de mercados activos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589520" y="1828800"/>
            <a:ext cx="3959352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3"/>
          <p:cNvSpPr/>
          <p:nvPr/>
        </p:nvSpPr>
        <p:spPr>
          <a:xfrm>
            <a:off x="7744968" y="2103120"/>
            <a:ext cx="320040" cy="320040"/>
          </a:xfrm>
          <a:prstGeom prst="ellipse">
            <a:avLst/>
          </a:prstGeom>
          <a:solidFill>
            <a:srgbClr val="F4EC5B"/>
          </a:solidFill>
          <a:ln w="12700">
            <a:solidFill>
              <a:srgbClr val="F4EC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4"/>
          <p:cNvSpPr txBox="1"/>
          <p:nvPr/>
        </p:nvSpPr>
        <p:spPr>
          <a:xfrm>
            <a:off x="8229600" y="1938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Brand WEPRO · Lara Rodríguez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2258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</a:rPr>
              <a:t>Diseño, contenido de proyectos, aprobaciones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589520" y="2807208"/>
            <a:ext cx="3959352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7"/>
          <p:cNvSpPr/>
          <p:nvPr/>
        </p:nvSpPr>
        <p:spPr>
          <a:xfrm>
            <a:off x="7744968" y="3081528"/>
            <a:ext cx="320040" cy="320040"/>
          </a:xfrm>
          <a:prstGeom prst="ellipse">
            <a:avLst/>
          </a:prstGeom>
          <a:solidFill>
            <a:srgbClr val="A5C720"/>
          </a:solidFill>
          <a:ln w="12700">
            <a:solidFill>
              <a:srgbClr val="A5C7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8"/>
          <p:cNvSpPr txBox="1"/>
          <p:nvPr/>
        </p:nvSpPr>
        <p:spPr>
          <a:xfrm>
            <a:off x="8229600" y="29169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Producto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29600" y="32369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</a:rPr>
              <a:t>Datos, fichas técnicas, validación de claims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589520" y="3785616"/>
            <a:ext cx="3959352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7744968" y="4059936"/>
            <a:ext cx="320040" cy="320040"/>
          </a:xfrm>
          <a:prstGeom prst="ellipse">
            <a:avLst/>
          </a:prstGeom>
          <a:solidFill>
            <a:srgbClr val="EF9F10"/>
          </a:solidFill>
          <a:ln w="12700">
            <a:solidFill>
              <a:srgbClr val="EF9F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 txBox="1"/>
          <p:nvPr/>
        </p:nvSpPr>
        <p:spPr>
          <a:xfrm>
            <a:off x="8229600" y="38953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Logística y Regulatory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0" y="4215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</a:rPr>
              <a:t>Envío de aerosoles, COV, impuestos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589520" y="4764024"/>
            <a:ext cx="3959352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7744968" y="5038344"/>
            <a:ext cx="320040" cy="320040"/>
          </a:xfrm>
          <a:prstGeom prst="ellipse">
            <a:avLst/>
          </a:prstGeom>
          <a:solidFill>
            <a:srgbClr val="5DC4E5"/>
          </a:solidFill>
          <a:ln w="12700">
            <a:solidFill>
              <a:srgbClr val="5DC4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6"/>
          <p:cNvSpPr txBox="1"/>
          <p:nvPr/>
        </p:nvSpPr>
        <p:spPr>
          <a:xfrm>
            <a:off x="8229600" y="4873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Agencia / desarrollador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229600" y="5193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</a:rPr>
              <a:t>UI, desarrollo, apps, QA, formación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06. CÓMO MEDIREMOS EL ÉXITO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KPIs de lanzamiento: negocio, experiencia y compra guiada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2522144" cy="21031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2156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4EC5B"/>
                </a:solidFill>
              </a:rPr>
              <a:t>1,64%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Tasa de conversión objetivo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9D9D9"/>
                </a:solidFill>
              </a:rPr>
              <a:t>Benchmark Home &amp; Garden (Triple Whale 2026)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36544" y="1874520"/>
            <a:ext cx="2522144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3619424" y="2011680"/>
            <a:ext cx="2156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E1E1E"/>
                </a:solidFill>
              </a:rPr>
              <a:t>470 k€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619424" y="292608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</a:rPr>
              <a:t>Venta año 1 del Shopify WEPRO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619424" y="34290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Plan ecommerce 2027 (UK, Iberia, EE. UU.)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3008" y="1874520"/>
            <a:ext cx="2522144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6415888" y="2011680"/>
            <a:ext cx="2156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E1E1E"/>
                </a:solidFill>
              </a:rPr>
              <a:t>4 uds.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415888" y="292608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</a:rPr>
              <a:t>Unidades por pedido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15888" y="34290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Hipótesis de ticket del plan 2027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029471" y="1874520"/>
            <a:ext cx="2522144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9212351" y="2011680"/>
            <a:ext cx="2156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E1E1E"/>
                </a:solidFill>
              </a:rPr>
              <a:t>&lt; 2,5 s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9212351" y="292608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</a:rPr>
              <a:t>LCP en móvil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212351" y="34290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Core Web Vitals en verde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2519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6B"/>
                </a:solidFill>
              </a:rPr>
              <a:t>INDICADORES DE COMPRA GUIADA (OBJETIVO A FIJAR TRAS 8 SEMANAS DE DATOS)</a:t>
            </a:r>
            <a:endParaRPr lang="en-US" sz="1000" dirty="0"/>
          </a:p>
        </p:txBody>
      </p:sp>
      <p:pic>
        <p:nvPicPr>
          <p:cNvPr id="22" name="Image 1" descr="/home/claude/tpl/a/s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4709160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7280" y="46634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% de pedidos con kit o fase completa</a:t>
            </a:r>
            <a:endParaRPr lang="en-US" sz="1200" dirty="0"/>
          </a:p>
        </p:txBody>
      </p:sp>
      <p:pic>
        <p:nvPicPr>
          <p:cNvPr id="24" name="Image 2" descr="/home/claude/tpl/a/b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36544" y="4709160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893744" y="46634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% de usuarios que completan el buscador guiado</a:t>
            </a:r>
            <a:endParaRPr lang="en-US" sz="1200" dirty="0"/>
          </a:p>
        </p:txBody>
      </p:sp>
      <p:pic>
        <p:nvPicPr>
          <p:cNvPr id="26" name="Image 3" descr="/home/claude/tpl/a/b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33008" y="4709160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690208" y="46634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Carritos recuperados por email</a:t>
            </a:r>
            <a:endParaRPr lang="en-US" sz="1200" dirty="0"/>
          </a:p>
        </p:txBody>
      </p:sp>
      <p:pic>
        <p:nvPicPr>
          <p:cNvPr id="28" name="Image 4" descr="/home/claude/tpl/a/b2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29471" y="4709160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486671" y="46634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Reseñas con foto por cada 100 pedidos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b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859536"/>
            <a:ext cx="292608" cy="292608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96012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06. QUÉ ESPERAMOS RECIBIR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5" hasCustomPrompt="1"/>
          </p:nvPr>
        </p:nvSpPr>
        <p:spPr>
          <a:xfrm>
            <a:off x="640080" y="113385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</a:rPr>
              <a:t>Propuesta de la agencia y preguntas que debe responder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5120640" cy="41148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91440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DC4E5"/>
                </a:solidFill>
              </a:rPr>
              <a:t>ENTREGABLES DE LA PROPUESTA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6888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Propuesta técnica: tema, apps, modelo de datos y arquitectura de mercados.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Estimación de horas y coste por fase, con la compra guiada (proyectos, kit, buscador) presupuestada aparte.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Coste recurrente anual de apps y licencias.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Planning ajustado con dependencias y riesgos.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Plan de QA, rendimiento y accesibilidad.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Mantenimiento, soporte (SLA) y formación al equipo.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</a:rPr>
              <a:t>PREGUNTAS ABIERTAS PARA EL DESARROLLADOR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2240280"/>
            <a:ext cx="5376672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A6CB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2402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¿Horizon o una alternativa? Justificación y coste de mantenimiento.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2990088"/>
            <a:ext cx="5376672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6309360" y="299008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A6CB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299008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¿Buscador guiado y kit editable a medida o con app?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3739896"/>
            <a:ext cx="5376672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6309360" y="373989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A6CB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373989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¿Cómo conectamos stock y precio con nuestro ERP?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4489704"/>
            <a:ext cx="5376672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 txBox="1"/>
          <p:nvPr/>
        </p:nvSpPr>
        <p:spPr>
          <a:xfrm>
            <a:off x="6309360" y="448970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A6CB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720840" y="448970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¿Una tienda con Markets para UE y EE. UU. o una tienda separada para EE. UU.?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72200" y="5239512"/>
            <a:ext cx="5376672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6309360" y="523951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A6CB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720840" y="523951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¿Qué transportistas integrables aceptan aerosoles en cada mercado?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60350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Fecha de entrega de la propuesta: [FECHA] · Contacto: lrodriguez@montanacolors.com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/ph_43_52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4648" y="0"/>
            <a:ext cx="7007047" cy="6858000"/>
          </a:xfrm>
          <a:prstGeom prst="rect">
            <a:avLst/>
          </a:prstGeom>
        </p:spPr>
      </p:pic>
      <p:pic>
        <p:nvPicPr>
          <p:cNvPr id="3" name="Image 1" descr="/home/claude/tpl/a/logo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29184"/>
            <a:ext cx="1024128" cy="210312"/>
          </a:xfrm>
          <a:prstGeom prst="rect">
            <a:avLst/>
          </a:prstGeom>
        </p:spPr>
      </p:pic>
      <p:pic>
        <p:nvPicPr>
          <p:cNvPr id="4" name="Image 2" descr="/home/claude/tpl/a/b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23360" y="411480"/>
            <a:ext cx="502920" cy="50292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02336" y="1920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Es hora de revolucionar el mundo del DIY.</a:t>
            </a:r>
            <a:endParaRPr lang="en-US" sz="1800" dirty="0"/>
          </a:p>
        </p:txBody>
      </p:sp>
      <p:sp>
        <p:nvSpPr>
          <p:cNvPr id="6" name="Text 1"/>
          <p:cNvSpPr txBox="1"/>
          <p:nvPr/>
        </p:nvSpPr>
        <p:spPr>
          <a:xfrm>
            <a:off x="402336" y="2926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</a:rPr>
              <a:t>GRACIAS!</a:t>
            </a:r>
            <a:endParaRPr lang="en-US" sz="4800" dirty="0"/>
          </a:p>
        </p:txBody>
      </p:sp>
      <p:sp>
        <p:nvSpPr>
          <p:cNvPr id="7" name="Shape 2"/>
          <p:cNvSpPr/>
          <p:nvPr/>
        </p:nvSpPr>
        <p:spPr>
          <a:xfrm>
            <a:off x="402336" y="4754880"/>
            <a:ext cx="2743200" cy="0"/>
          </a:xfrm>
          <a:prstGeom prst="line">
            <a:avLst/>
          </a:prstGeom>
          <a:noFill/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3"/>
          <p:cNvSpPr txBox="1"/>
          <p:nvPr/>
        </p:nvSpPr>
        <p:spPr>
          <a:xfrm>
            <a:off x="402336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Lara Rodríguez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02336" y="5166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6B6B"/>
                </a:solidFill>
              </a:rPr>
              <a:t>BRAND MANAGER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402336" y="5394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lrodriguez@montanacolors.com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402336" y="6080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</a:rPr>
              <a:t>Documento confidencial. Ninguna parte de este brief puede circularse, citarse ni reproducirse sin autorización previa por escrito de Montana Colors, S.L.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PRO Brief">
  <a:themeElements>
    <a:clrScheme name="WEPRO Brief">
      <a:dk1>
        <a:srgbClr val="1E1E1E"/>
      </a:dk1>
      <a:lt1>
        <a:srgbClr val="FFFFFF"/>
      </a:lt1>
      <a:dk2>
        <a:srgbClr val="2B2B2B"/>
      </a:dk2>
      <a:lt2>
        <a:srgbClr val="F2F2F2"/>
      </a:lt2>
      <a:accent1>
        <a:srgbClr val="F4EC5B"/>
      </a:accent1>
      <a:accent2>
        <a:srgbClr val="A5C720"/>
      </a:accent2>
      <a:accent3>
        <a:srgbClr val="B38ABE"/>
      </a:accent3>
      <a:accent4>
        <a:srgbClr val="C94D84"/>
      </a:accent4>
      <a:accent5>
        <a:srgbClr val="EF9F10"/>
      </a:accent5>
      <a:accent6>
        <a:srgbClr val="5DC4E5"/>
      </a:accent6>
      <a:hlink>
        <a:srgbClr val="2563EB"/>
      </a:hlink>
      <a:folHlink>
        <a:srgbClr val="7D62A6"/>
      </a:folHlink>
    </a:clrScheme>
    <a:fontScheme name="WEPRO Brief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4124</Words>
  <Application>Microsoft Office PowerPoint</Application>
  <PresentationFormat>Panorámica</PresentationFormat>
  <Paragraphs>611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8" baseType="lpstr">
      <vt:lpstr>Arial</vt:lpstr>
      <vt:lpstr>Calibri</vt:lpstr>
      <vt:lpstr>WEPRO Brief</vt:lpstr>
      <vt:lpstr>Presentación de PowerPoint</vt:lpstr>
      <vt:lpstr>Qué encontrarás en este brief</vt:lpstr>
      <vt:lpstr>Presentación de PowerPoint</vt:lpstr>
      <vt:lpstr>Un microsite que vende proyectos, no solo productos</vt:lpstr>
      <vt:lpstr>Lo que el desarrollador necesita saber antes de presupuestar</vt:lpstr>
      <vt:lpstr>Un solo destino para WEPRO: web, landing, tienda, buscador e inspiración</vt:lpstr>
      <vt:lpstr>Por qué un microsite y no una landing</vt:lpstr>
      <vt:lpstr>Presentación de PowerPoint</vt:lpstr>
      <vt:lpstr>Navegación por necesidad del usuario, no por catálogo interno</vt:lpstr>
      <vt:lpstr>Recomendación: Horizon, sobre copia del tema y con GitHub</vt:lpstr>
      <vt:lpstr>Un proyecto se da de alta una vez y alimenta cinco sitios</vt:lpstr>
      <vt:lpstr>Stack propuesto: nativo de Shopify primero, apps solo donde aportan</vt:lpstr>
      <vt:lpstr>Presentación de PowerPoint</vt:lpstr>
      <vt:lpstr>La home explica WEPRO en segundos y lleva al proyecto adecuado</vt:lpstr>
      <vt:lpstr>Listado de proyectos: navegación por necesidad</vt:lpstr>
      <vt:lpstr>El proyecto se compra entero, por fases o a medida</vt:lpstr>
      <vt:lpstr>Las familias son las fases del método</vt:lpstr>
      <vt:lpstr>Fichas homogéneas y relaciones que explican su función</vt:lpstr>
      <vt:lpstr>Buscador guiado y biblioteca educativa</vt:lpstr>
      <vt:lpstr>Ocho formas de comprar y un carrito que vende la siguiente fase</vt:lpstr>
      <vt:lpstr>La compra es el inicio del proyecto, no el final</vt:lpstr>
      <vt:lpstr>Presentación de PowerPoint</vt:lpstr>
      <vt:lpstr>Seis reglas de diseño que pedimos respetar</vt:lpstr>
      <vt:lpstr>Lo que no se ve, pero condiciona el lanzamiento</vt:lpstr>
      <vt:lpstr>Presentación de PowerPoint</vt:lpstr>
      <vt:lpstr>Frenchic y Leroy Merlin: del proyecto a la lista de la compra</vt:lpstr>
      <vt:lpstr>IKEA y ManoMano: inspirar y guiar la compra</vt:lpstr>
      <vt:lpstr>Lick, Backdrop y Clare: pintura vendida como experiencia</vt:lpstr>
      <vt:lpstr>Our Place y Farrow &amp; Ball: packs que convierten y marca que enamora</vt:lpstr>
      <vt:lpstr>Presentación de PowerPoint</vt:lpstr>
      <vt:lpstr>Propuesta: 18 semanas, de noviembre 2026 a marzo 2027</vt:lpstr>
      <vt:lpstr>Ocho hitos de validación y un responsable claro para cada frente</vt:lpstr>
      <vt:lpstr>KPIs de lanzamiento: negocio, experiencia y compra guiada</vt:lpstr>
      <vt:lpstr>Propuesta de la agencia y preguntas que debe responder</vt:lpstr>
      <vt:lpstr>Presentación de PowerPoint</vt:lpstr>
    </vt:vector>
  </TitlesOfParts>
  <Company>Montana Colors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WEPRO · Brief desarrollo web Shopify</dc:title>
  <dc:subject>PptxGenJS Presentation</dc:subject>
  <dc:creator>Lara Rodríguez · Brand Manager WEPRO</dc:creator>
  <cp:lastModifiedBy>Lara Rodríguez Valero</cp:lastModifiedBy>
  <cp:revision>2</cp:revision>
  <dcterms:created xsi:type="dcterms:W3CDTF">2026-10-05T14:53:09Z</dcterms:created>
  <dcterms:modified xsi:type="dcterms:W3CDTF">2026-10-05T16:41:22Z</dcterms:modified>
</cp:coreProperties>
</file>